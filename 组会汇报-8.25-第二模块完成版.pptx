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36cec759e475e" /><Relationship Type="http://schemas.openxmlformats.org/officeDocument/2006/relationships/extended-properties" Target="/docProps/app.xml" Id="Reabe0e4e167f420b" /><Relationship Type="http://schemas.openxmlformats.org/officeDocument/2006/relationships/officeDocument" Target="/ppt/presentation.xml" Id="Rf4200a84a4204c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cdb278f88247f5"/>
  </p:sldMasterIdLst>
  <p:notesMasterIdLst>
    <p:notesMasterId xmlns:r="http://schemas.openxmlformats.org/officeDocument/2006/relationships" r:id="Rbc2e9c01de444718"/>
  </p:notesMasterIdLst>
  <p:sldIdLst>
    <p:sldId xmlns:r="http://schemas.openxmlformats.org/officeDocument/2006/relationships" id="256" r:id="R63c1f76e06ab4c2c"/>
    <p:sldId xmlns:r="http://schemas.openxmlformats.org/officeDocument/2006/relationships" id="257" r:id="R200bb28f790241fb"/>
    <p:sldId xmlns:r="http://schemas.openxmlformats.org/officeDocument/2006/relationships" id="258" r:id="R1292b1517a984ed2"/>
    <p:sldId xmlns:r="http://schemas.openxmlformats.org/officeDocument/2006/relationships" id="259" r:id="R7a5f97b2a7954d5c"/>
    <p:sldId xmlns:r="http://schemas.openxmlformats.org/officeDocument/2006/relationships" id="260" r:id="R660b805dbc7c4a4d"/>
    <p:sldId xmlns:r="http://schemas.openxmlformats.org/officeDocument/2006/relationships" id="261" r:id="R581d4ebc73a34005"/>
    <p:sldId xmlns:r="http://schemas.openxmlformats.org/officeDocument/2006/relationships" id="262" r:id="R6cbd8e090d28416c"/>
    <p:sldId xmlns:r="http://schemas.openxmlformats.org/officeDocument/2006/relationships" id="263" r:id="R30bde8c0df6d4bb4"/>
    <p:sldId xmlns:r="http://schemas.openxmlformats.org/officeDocument/2006/relationships" id="264" r:id="Rad2bddad13594632"/>
    <p:sldId xmlns:r="http://schemas.openxmlformats.org/officeDocument/2006/relationships" id="265" r:id="R7d81f83c3450423d"/>
    <p:sldId xmlns:r="http://schemas.openxmlformats.org/officeDocument/2006/relationships" id="266" r:id="Ra8e7806099834ea0"/>
    <p:sldId xmlns:r="http://schemas.openxmlformats.org/officeDocument/2006/relationships" id="267" r:id="Rdf9ec4ca31144522"/>
    <p:sldId xmlns:r="http://schemas.openxmlformats.org/officeDocument/2006/relationships" id="268" r:id="Rb87857d41735444d"/>
    <p:sldId xmlns:r="http://schemas.openxmlformats.org/officeDocument/2006/relationships" id="269" r:id="Rc96090db5d7b44c7"/>
    <p:sldId xmlns:r="http://schemas.openxmlformats.org/officeDocument/2006/relationships" id="270" r:id="Re4b6abc862a54a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b6d81b97b94d8d" /><Relationship Type="http://schemas.openxmlformats.org/officeDocument/2006/relationships/slideMaster" Target="/ppt/slideMasters/slideMaster1.xml" Id="R12cdb278f88247f5" /><Relationship Type="http://schemas.openxmlformats.org/officeDocument/2006/relationships/notesMaster" Target="/ppt/notesMasters/notesMaster1.xml" Id="Rbc2e9c01de444718" /><Relationship Type="http://schemas.openxmlformats.org/officeDocument/2006/relationships/presProps" Target="/ppt/presProps.xml" Id="Rf805cae8396f4261" /><Relationship Type="http://schemas.openxmlformats.org/officeDocument/2006/relationships/viewProps" Target="/ppt/viewProps.xml" Id="Refb80b36aa1b434d" /><Relationship Type="http://schemas.openxmlformats.org/officeDocument/2006/relationships/tableStyles" Target="/ppt/tableStyles.xml" Id="R550954305b9047be" /><Relationship Type="http://schemas.openxmlformats.org/officeDocument/2006/relationships/slide" Target="/ppt/slides/slide1.xml" Id="R63c1f76e06ab4c2c" /><Relationship Type="http://schemas.openxmlformats.org/officeDocument/2006/relationships/slide" Target="/ppt/slides/slide2.xml" Id="R200bb28f790241fb" /><Relationship Type="http://schemas.openxmlformats.org/officeDocument/2006/relationships/slide" Target="/ppt/slides/slide3.xml" Id="R1292b1517a984ed2" /><Relationship Type="http://schemas.openxmlformats.org/officeDocument/2006/relationships/slide" Target="/ppt/slides/slide4.xml" Id="R7a5f97b2a7954d5c" /><Relationship Type="http://schemas.openxmlformats.org/officeDocument/2006/relationships/slide" Target="/ppt/slides/slide5.xml" Id="R660b805dbc7c4a4d" /><Relationship Type="http://schemas.openxmlformats.org/officeDocument/2006/relationships/slide" Target="/ppt/slides/slide6.xml" Id="R581d4ebc73a34005" /><Relationship Type="http://schemas.openxmlformats.org/officeDocument/2006/relationships/slide" Target="/ppt/slides/slide7.xml" Id="R6cbd8e090d28416c" /><Relationship Type="http://schemas.openxmlformats.org/officeDocument/2006/relationships/slide" Target="/ppt/slides/slide8.xml" Id="R30bde8c0df6d4bb4" /><Relationship Type="http://schemas.openxmlformats.org/officeDocument/2006/relationships/slide" Target="/ppt/slides/slide9.xml" Id="Rad2bddad13594632" /><Relationship Type="http://schemas.openxmlformats.org/officeDocument/2006/relationships/slide" Target="/ppt/slides/slide10.xml" Id="R7d81f83c3450423d" /><Relationship Type="http://schemas.openxmlformats.org/officeDocument/2006/relationships/slide" Target="/ppt/slides/slide11.xml" Id="Ra8e7806099834ea0" /><Relationship Type="http://schemas.openxmlformats.org/officeDocument/2006/relationships/slide" Target="/ppt/slides/slide12.xml" Id="Rdf9ec4ca31144522" /><Relationship Type="http://schemas.openxmlformats.org/officeDocument/2006/relationships/slide" Target="/ppt/slides/slide13.xml" Id="Rb87857d41735444d" /><Relationship Type="http://schemas.openxmlformats.org/officeDocument/2006/relationships/slide" Target="/ppt/slides/slide14.xml" Id="Rc96090db5d7b44c7" /><Relationship Type="http://schemas.openxmlformats.org/officeDocument/2006/relationships/slide" Target="/ppt/slides/slide15.xml" Id="Re4b6abc862a54a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d9a854692742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74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8161E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7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41437a11b24c7b" /><Relationship Type="http://schemas.openxmlformats.org/officeDocument/2006/relationships/notesMaster" Target="/ppt/notesMasters/notesMaster1.xml" Id="Rfe8f600181144d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b59e1bee91454c" /><Relationship Type="http://schemas.openxmlformats.org/officeDocument/2006/relationships/notesMaster" Target="/ppt/notesMasters/notesMaster1.xml" Id="R7d1ba5f1909643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2f22ce0a29482f" /><Relationship Type="http://schemas.openxmlformats.org/officeDocument/2006/relationships/notesMaster" Target="/ppt/notesMasters/notesMaster1.xml" Id="Rfc50b20886ca41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6ae10b6f543ec" /><Relationship Type="http://schemas.openxmlformats.org/officeDocument/2006/relationships/notesMaster" Target="/ppt/notesMasters/notesMaster1.xml" Id="Re3e9361576ef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8a182254b4985" /><Relationship Type="http://schemas.openxmlformats.org/officeDocument/2006/relationships/notesMaster" Target="/ppt/notesMasters/notesMaster1.xml" Id="R067f672a119c4e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d856d4f3cc492d" /><Relationship Type="http://schemas.openxmlformats.org/officeDocument/2006/relationships/notesMaster" Target="/ppt/notesMasters/notesMaster1.xml" Id="R13b2a7ad4b3c4e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9744e9f48474f" /><Relationship Type="http://schemas.openxmlformats.org/officeDocument/2006/relationships/notesMaster" Target="/ppt/notesMasters/notesMaster1.xml" Id="Rdd0a3b6cccff46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4c1de24be644af" /><Relationship Type="http://schemas.openxmlformats.org/officeDocument/2006/relationships/notesMaster" Target="/ppt/notesMasters/notesMaster1.xml" Id="R23d8c1f53b2b4d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6b71838ce94ae5" /><Relationship Type="http://schemas.openxmlformats.org/officeDocument/2006/relationships/notesMaster" Target="/ppt/notesMasters/notesMaster1.xml" Id="R5066221b0b5b49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946591eca64f89" /><Relationship Type="http://schemas.openxmlformats.org/officeDocument/2006/relationships/notesMaster" Target="/ppt/notesMasters/notesMaster1.xml" Id="R92aaf86f30624c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49d25973224318" /><Relationship Type="http://schemas.openxmlformats.org/officeDocument/2006/relationships/notesMaster" Target="/ppt/notesMasters/notesMaster1.xml" Id="R52f8f783b7644d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d1b79823804fb8" /><Relationship Type="http://schemas.openxmlformats.org/officeDocument/2006/relationships/notesMaster" Target="/ppt/notesMasters/notesMaster1.xml" Id="Rf294f3e9112649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cefa60f2434185" /><Relationship Type="http://schemas.openxmlformats.org/officeDocument/2006/relationships/notesMaster" Target="/ppt/notesMasters/notesMaster1.xml" Id="R617aa16f79f741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7ccbb714bc4119" /><Relationship Type="http://schemas.openxmlformats.org/officeDocument/2006/relationships/notesMaster" Target="/ppt/notesMasters/notesMaster1.xml" Id="R9ba40ea479dc43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4b5bef41f44bf7" /><Relationship Type="http://schemas.openxmlformats.org/officeDocument/2006/relationships/notesMaster" Target="/ppt/notesMasters/notesMaster1.xml" Id="R18d6d4fe65754d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用户提供的《论文2_精读与复现进展_PPT生成提示词.md》：2.1 论文简介与研究动机。</a:t>
            </a:r>
            <a:endParaRPr/>
          </a:p>
          <a:p xmlns:a="http://schemas.openxmlformats.org/drawingml/2006/main">
            <a:r>
              <a:t>- 论文：An Efficient Cooperative Co-Evolutionary Multitask Optimization Framework for Large-Scale Optimization（CCMTO，IEEE TEVC）。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用户提供的《论文2_精读与复现进展_PPT生成提示词.md》：2.2 算法理解。</a:t>
            </a:r>
            <a:endParaRPr/>
          </a:p>
          <a:p xmlns:a="http://schemas.openxmlformats.org/drawingml/2006/main">
            <a:r>
              <a:t>- 论文：CCMTO 的 EDG、MTOPs、MTES-DAKG、DT-DoS、AS-SaS、动态资源调度与停滞检测机制。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用户提供的《论文2_精读与复现进展_PPT生成提示词.md》：2.3 复现情况。</a:t>
            </a:r>
            <a:endParaRPr/>
          </a:p>
          <a:p xmlns:a="http://schemas.openxmlformats.org/drawingml/2006/main">
            <a:r>
              <a:t>- 项目图表：results/TABLE II/algorithm_rankings.png。</a:t>
            </a:r>
            <a:endParaRPr/>
          </a:p>
          <a:p xmlns:a="http://schemas.openxmlformats.org/drawingml/2006/main">
            <a:r>
              <a:t>- 项目图表：results/TABLE IV/chart_module3_component_ablation.png。</a:t>
            </a:r>
            <a:endParaRPr/>
          </a:p>
          <a:p xmlns:a="http://schemas.openxmlformats.org/drawingml/2006/main">
            <a:r>
              <a:t>- 关键数字来自用户提供的提示词；正式汇报前建议以最终统计脚本输出再次核对 p 值与数量级表述。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用户提供的《论文2_精读与复现进展_PPT生成提示词.md》：2.4 存在问题与未来方向。</a:t>
            </a:r>
            <a:endParaRPr/>
          </a:p>
          <a:p xmlns:a="http://schemas.openxmlformats.org/drawingml/2006/main">
            <a:r>
              <a:t>- 复现反思内容根据用户提供的项目说明与提示词进行精简表达，未新增实验结论。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9d8433ca443ff" /><Relationship Type="http://schemas.openxmlformats.org/officeDocument/2006/relationships/image" Target="/ppt/media/image.png" Id="Rfad13b299c7745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e098312804f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06cd5569042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5467f08ec43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4a5473f114d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8824460e14f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a1fe4422c40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8456e830248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336375d7b4f8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594385c1a45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5ff5363464b0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780c7130740d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13b299c77457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8788" y="91369"/>
            <a:ext cx="1971153" cy="46223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73427D-3720-E33D-014A-690A463402B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C8E254-45F4-217B-F8DC-9FE3A96292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05F3995-6CFD-B4ED-E490-416918EF7D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0AEEAFB-D33F-78B4-87CA-1F9B21D3C9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1310734-F5F3-4B11-36AC-7784AB25DF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EA765DC-8916-742A-9F7B-52CA4AA36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768CD1A-8361-1B0F-F527-FE9C9B3AE2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924F11-CD91-EFCF-C85F-8421BCAE75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257519B-233A-29A2-5A76-4C633CD418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87F9033-E1F5-6558-6157-3CEE871D4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8F3588-CFCB-E987-A09B-F04C125FE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F9F3821-3675-68D5-7CBB-7D13FFD6C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79742E-BF29-4B3C-9354-EAAABE63B7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F03393-5E48-5493-9E89-F8392CCFBD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3D6076C-7F57-BF1D-4BF7-9A243E114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15F1E4F-6369-D767-FFB9-9C2798506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D903D14-BEF3-9412-1C98-CD7579DBF9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4C78879-0D29-5532-990E-9A2D538F01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CC76E8F-159C-1C6F-E554-8C33C14C52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F7A6CB-6E5E-6104-F6EB-CE9C000A95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EE6DFB6-DDD6-5C68-9BF3-48C67CA330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F28128-9598-BEA7-A141-62D66FC7F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50E6FDE-1691-FCA5-E09C-A8CBA769E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1B47825-CD5A-70B3-4828-A91506CFCD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7A07D8D-DAEB-0980-3B09-33566988BA0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E29B871-FC8D-820A-D2DF-156FB9FA206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D124AA1-C6F3-4B95-5146-37DE79E23D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0118108-225F-035F-9ED9-5A3DF61183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3E49D67-5A94-F883-6CBB-E948663A69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62088F-CE99-9511-0D58-10E7E09EC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0879943-A461-7788-D5B7-C363818DE6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E53E2A4-C241-DAA6-95EF-1FFF978F1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B49107C-F8C6-1ADF-2A11-44DEFC43F1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896EB5C-8303-F2E5-290E-E1DFAE6D30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FD07CFE-038F-8BEC-C7F9-162B7109FA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3D55A54-AF1C-0664-A191-3AE03DD303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56DD037-084D-5969-BDB0-96B4B4EF4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7B3A36-225F-B5F9-1F60-A79DBC0F88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6696FBC-B11A-4F98-4AFA-6A072DA9E8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435D4C0-E652-D285-ADF5-827630B307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1379900-84B9-7D53-6692-D834249F73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35CB51-E9F7-A2E6-DEB8-994A71B9DA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4069955-819F-38B7-A53C-C3F083576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3ED81C5-6AF7-5843-B499-0EF33F1FAD1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D435D13-F454-0133-2F68-3249D11324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24D39C8-89D2-4D38-03F9-C244F4FF70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D44B0DE-81D4-2C66-06FB-5939835807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F3BB67-BFAE-A1B5-692A-7356D5BC0C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F8A812-675F-F0BC-CE7F-9232840F8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A488E5E-51CA-9BF5-7DE3-0C1963F38D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9EA9526-37CC-3152-4B7C-43A5576AD5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6ADCAA-620D-8487-49EC-D32BB2D559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D21FA31-8498-65F7-3955-7080E6DD04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E383B8D-1FAC-EF7F-70E6-02912B47D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2F96993-A809-AA53-5A6B-93659EC5BC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95B41A-DECD-A1B5-9843-B8BFA54E77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8A3E5A-88F5-60A5-5665-D032486ECB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9FE67B-BBB7-A134-E165-43C78B27E6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496bde7c3544a7" /><Relationship Type="http://schemas.openxmlformats.org/officeDocument/2006/relationships/slideLayout" Target="/ppt/slideLayouts/slideLayout1.xml" Id="R8ed548e3ef664c6d" /><Relationship Type="http://schemas.openxmlformats.org/officeDocument/2006/relationships/slideLayout" Target="/ppt/slideLayouts/slideLayout2.xml" Id="Rdcb75db7165b4e8b" /><Relationship Type="http://schemas.openxmlformats.org/officeDocument/2006/relationships/slideLayout" Target="/ppt/slideLayouts/slideLayout3.xml" Id="R6ceb450fb14e4e22" /><Relationship Type="http://schemas.openxmlformats.org/officeDocument/2006/relationships/slideLayout" Target="/ppt/slideLayouts/slideLayout4.xml" Id="Rc3fd09568d344e0d" /><Relationship Type="http://schemas.openxmlformats.org/officeDocument/2006/relationships/slideLayout" Target="/ppt/slideLayouts/slideLayout5.xml" Id="R565e985dc7b44963" /><Relationship Type="http://schemas.openxmlformats.org/officeDocument/2006/relationships/slideLayout" Target="/ppt/slideLayouts/slideLayout6.xml" Id="R329395e58b634ee6" /><Relationship Type="http://schemas.openxmlformats.org/officeDocument/2006/relationships/slideLayout" Target="/ppt/slideLayouts/slideLayout7.xml" Id="R66c7d70a024a48ca" /><Relationship Type="http://schemas.openxmlformats.org/officeDocument/2006/relationships/slideLayout" Target="/ppt/slideLayouts/slideLayout8.xml" Id="R3779fe65153640ac" /><Relationship Type="http://schemas.openxmlformats.org/officeDocument/2006/relationships/slideLayout" Target="/ppt/slideLayouts/slideLayout9.xml" Id="R058113a9536242fd" /><Relationship Type="http://schemas.openxmlformats.org/officeDocument/2006/relationships/slideLayout" Target="/ppt/slideLayouts/slideLayout10.xml" Id="Rf974ae069ec04000" /><Relationship Type="http://schemas.openxmlformats.org/officeDocument/2006/relationships/slideLayout" Target="/ppt/slideLayouts/slideLayout11.xml" Id="R2a04011860604ffd" /><Relationship Type="http://schemas.openxmlformats.org/officeDocument/2006/relationships/slideLayout" Target="/ppt/slideLayouts/slideLayout12.xml" Id="R4014e7fc35ab4b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7AE946E-D222-3903-1FCD-FD2389A15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22A419-1478-87FC-25A2-2D28EDB1AF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2680261-63AD-2E7D-1C09-7422419482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BCDBA34-7A7E-4808-AB87-0F41496EB64D}" type="datetimeFigureOut">
              <a:t>2026/8/23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5B33230-5999-95D8-8346-2E0D62B2ADC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C8E8B0-DDAB-1BF8-21C1-2D67267678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D059E5-3D9A-4CB3-B922-6CA2C0162BE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548e3ef664c6d"/>
    <p:sldLayoutId xmlns:r="http://schemas.openxmlformats.org/officeDocument/2006/relationships" id="2147483650" r:id="Rdcb75db7165b4e8b"/>
    <p:sldLayoutId xmlns:r="http://schemas.openxmlformats.org/officeDocument/2006/relationships" id="2147483651" r:id="R6ceb450fb14e4e22"/>
    <p:sldLayoutId xmlns:r="http://schemas.openxmlformats.org/officeDocument/2006/relationships" id="2147483652" r:id="Rc3fd09568d344e0d"/>
    <p:sldLayoutId xmlns:r="http://schemas.openxmlformats.org/officeDocument/2006/relationships" id="2147483653" r:id="R565e985dc7b44963"/>
    <p:sldLayoutId xmlns:r="http://schemas.openxmlformats.org/officeDocument/2006/relationships" id="2147483654" r:id="R329395e58b634ee6"/>
    <p:sldLayoutId xmlns:r="http://schemas.openxmlformats.org/officeDocument/2006/relationships" id="2147483655" r:id="R66c7d70a024a48ca"/>
    <p:sldLayoutId xmlns:r="http://schemas.openxmlformats.org/officeDocument/2006/relationships" id="2147483656" r:id="R3779fe65153640ac"/>
    <p:sldLayoutId xmlns:r="http://schemas.openxmlformats.org/officeDocument/2006/relationships" id="2147483657" r:id="R058113a9536242fd"/>
    <p:sldLayoutId xmlns:r="http://schemas.openxmlformats.org/officeDocument/2006/relationships" id="2147483658" r:id="Rf974ae069ec04000"/>
    <p:sldLayoutId xmlns:r="http://schemas.openxmlformats.org/officeDocument/2006/relationships" id="2147483659" r:id="R2a04011860604ffd"/>
    <p:sldLayoutId xmlns:r="http://schemas.openxmlformats.org/officeDocument/2006/relationships" id="2147483660" r:id="R4014e7fc35ab4b1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74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8161E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7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e971130641d452a" /><Relationship Type="http://schemas.openxmlformats.org/officeDocument/2006/relationships/image" Target="/ppt/media/image.jpeg" Id="Rb4ed8581980e459e" /><Relationship Type="http://schemas.openxmlformats.org/officeDocument/2006/relationships/image" Target="/ppt/media/image2.png" Id="R499485cb7d1e4284" /><Relationship Type="http://schemas.openxmlformats.org/officeDocument/2006/relationships/notesSlide" Target="/ppt/notesSlides/notesSlide1.xml" Id="R1c27de8ac9ae41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6ba5131bdad4a25" /><Relationship Type="http://schemas.openxmlformats.org/officeDocument/2006/relationships/notesSlide" Target="/ppt/notesSlides/notesSlide2.xml" Id="Rbb90f56350bb47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8752bd6998d4168" /><Relationship Type="http://schemas.openxmlformats.org/officeDocument/2006/relationships/image" Target="/ppt/media/image3.png" Id="Rfb73cdc2803e4fe3" /><Relationship Type="http://schemas.openxmlformats.org/officeDocument/2006/relationships/notesSlide" Target="/ppt/notesSlides/notesSlide3.xml" Id="R00b58cc0360449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8a8d606604935" /><Relationship Type="http://schemas.openxmlformats.org/officeDocument/2006/relationships/notesSlide" Target="/ppt/notesSlides/notesSlide4.xml" Id="R8751e12ecc2a48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398535ce049ce" /><Relationship Type="http://schemas.openxmlformats.org/officeDocument/2006/relationships/notesSlide" Target="/ppt/notesSlides/notesSlide5.xml" Id="R4fe1e1c60aa146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e4eaae44b45a5" /><Relationship Type="http://schemas.openxmlformats.org/officeDocument/2006/relationships/notesSlide" Target="/ppt/notesSlides/notesSlide6.xml" Id="Rb02db4c26c8146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7b530b39a49fa" /><Relationship Type="http://schemas.openxmlformats.org/officeDocument/2006/relationships/notesSlide" Target="/ppt/notesSlides/notesSlide7.xml" Id="R27acbfbbccf240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a4773dcd1ed4b32" /><Relationship Type="http://schemas.openxmlformats.org/officeDocument/2006/relationships/image" Target="/ppt/media/image3.png" Id="R0256cf6bab8248f8" /><Relationship Type="http://schemas.openxmlformats.org/officeDocument/2006/relationships/notesSlide" Target="/ppt/notesSlides/notesSlide8.xml" Id="Re5b59eb382a04c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41ec4097c4498" /><Relationship Type="http://schemas.openxmlformats.org/officeDocument/2006/relationships/notesSlide" Target="/ppt/notesSlides/notesSlide9.xml" Id="R3a4ef2b762304e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c786422ee4443" /><Relationship Type="http://schemas.openxmlformats.org/officeDocument/2006/relationships/notesSlide" Target="/ppt/notesSlides/notesSlide10.xml" Id="Rd9e22ca4b90d44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16e3f7c6d4baf" /><Relationship Type="http://schemas.openxmlformats.org/officeDocument/2006/relationships/image" Target="/ppt/media/image4.png" Id="R91920243d27d4e60" /><Relationship Type="http://schemas.openxmlformats.org/officeDocument/2006/relationships/image" Target="/ppt/media/image5.png" Id="Ra4dfb70579cc4297" /><Relationship Type="http://schemas.openxmlformats.org/officeDocument/2006/relationships/notesSlide" Target="/ppt/notesSlides/notesSlide11.xml" Id="R91d053fdc45f4d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2a3993ed241f7" /><Relationship Type="http://schemas.openxmlformats.org/officeDocument/2006/relationships/notesSlide" Target="/ppt/notesSlides/notesSlide12.xml" Id="R4a2806060a94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0b5cb519b5447a2" /><Relationship Type="http://schemas.openxmlformats.org/officeDocument/2006/relationships/image" Target="/ppt/media/image3.png" Id="R9b88d562d05b4b2b" /><Relationship Type="http://schemas.openxmlformats.org/officeDocument/2006/relationships/notesSlide" Target="/ppt/notesSlides/notesSlide13.xml" Id="R1c1c527c709343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2d3247fee4d7c" /><Relationship Type="http://schemas.openxmlformats.org/officeDocument/2006/relationships/notesSlide" Target="/ppt/notesSlides/notesSlide14.xml" Id="R7729c7277b7644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2ebcc9d9c7244dc" /><Relationship Type="http://schemas.openxmlformats.org/officeDocument/2006/relationships/image" Target="/ppt/media/image2.jpeg" Id="R4b45fca4c00c482a" /><Relationship Type="http://schemas.openxmlformats.org/officeDocument/2006/relationships/image" Target="/ppt/media/image2.png" Id="Ra7a1ae94a1514c00" /><Relationship Type="http://schemas.openxmlformats.org/officeDocument/2006/relationships/notesSlide" Target="/ppt/notesSlides/notesSlide15.xml" Id="R4f90e04795bb4a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d8581980e459e"/>
          <a:srcRect xmlns:a="http://schemas.openxmlformats.org/drawingml/2006/main" l="0" t="26831" r="0" b="26831"/>
          <a:stretch xmlns:a="http://schemas.openxmlformats.org/drawingml/2006/main"/>
        </p:blipFill>
        <p:spPr>
          <a:xfrm xmlns:a="http://schemas.openxmlformats.org/drawingml/2006/main">
            <a:off x="-973" y="-18641"/>
            <a:ext cx="12192000" cy="2711737"/>
          </a:xfr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4138DC1-C1B8-5B16-6A34-4A0B60FF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808" y="3258644"/>
            <a:ext cx="8148384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6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志之所趋，无远弗届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636F3F0-3699-E667-A791-9C7453BA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584" y="4914123"/>
            <a:ext cx="4608954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西安电子科技大学研究生组会汇报</a:t>
            </a:r>
          </a:p>
        </p:txBody>
      </p:sp>
      <p:cxnSp>
        <p:nvCxnSpPr>
          <p:cNvPr id="29" name="直接箭头连接符 14"/>
          <p:cNvCxnSpPr/>
          <p:nvPr/>
        </p:nvCxnSpPr>
        <p:spPr>
          <a:xfrm xmlns:a="http://schemas.openxmlformats.org/drawingml/2006/main">
            <a:off x="2136000" y="4652442"/>
            <a:ext cx="792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>
                <a:alpha val="50000"/>
              </a:schemeClr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50BCF0E-FE8F-63ED-61C0-167935E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5189183" y="5758431"/>
            <a:ext cx="1800000" cy="36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5875">
            <a:solidFill>
              <a:schemeClr val="accent1">
                <a:alpha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汇报</a:t>
            </a:r>
            <a:r>
              <a:rPr sz="1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人：</a:t>
            </a:r>
            <a:r>
              <a:rPr sz="1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曾靖</a:t>
            </a:r>
            <a:endParaRPr sz="12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3B5C13B7-3D9B-F9C6-3371-D621101A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817" y="-18641"/>
            <a:ext cx="12192000" cy="2711737"/>
          </a:xfrm>
          <a:custGeom xmlns:a="http://schemas.openxmlformats.org/drawingml/2006/main"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  <a:gd name="connsiteX7" fmla="*/ 0 w 12192000"/>
              <a:gd name="connsiteY7" fmla="*/ 0 h 2711737"/>
            </a:gd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485cb7d1e428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47084" y="1099569"/>
            <a:ext cx="4097833" cy="960947"/>
          </a:xfrm>
          <a:prstGeom xmlns:a="http://schemas.openxmlformats.org/drawingml/2006/main" prst="rect">
            <a:avLst/>
          </a:prstGeom>
        </p:spPr>
      </p:pic>
      <p:sp>
        <p:nvSpPr>
          <p:cNvPr id="2" name="任意多边形: 形状 1">
            <a:extLst xmlns:a="http://schemas.openxmlformats.org/drawingml/2006/main">
              <a:ext uri="{FF2B5EF4-FFF2-40B4-BE49-F238E27FC236}">
                <a16:creationId xmlns:a16="http://schemas.microsoft.com/office/drawing/2014/main" id="{F8D77571-8213-FCAE-87A2-A7FA993F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95" y="1654796"/>
            <a:ext cx="12192000" cy="1179498"/>
          </a:xfrm>
          <a:custGeom xmlns:a="http://schemas.openxmlformats.org/drawingml/2006/main">
            <a:gdLst>
              <a:gd name="connsiteX0" fmla="*/ 12192000 w 12192000"/>
              <a:gd name="connsiteY0" fmla="*/ 0 h 1179498"/>
              <a:gd name="connsiteX1" fmla="*/ 12192000 w 12192000"/>
              <a:gd name="connsiteY1" fmla="*/ 306336 h 1179498"/>
              <a:gd name="connsiteX2" fmla="*/ 12168411 w 12192000"/>
              <a:gd name="connsiteY2" fmla="*/ 315093 h 1179498"/>
              <a:gd name="connsiteX3" fmla="*/ 6095513 w 12192000"/>
              <a:gd name="connsiteY3" fmla="*/ 1179498 h 1179498"/>
              <a:gd name="connsiteX4" fmla="*/ 22615 w 12192000"/>
              <a:gd name="connsiteY4" fmla="*/ 315093 h 1179498"/>
              <a:gd name="connsiteX5" fmla="*/ 0 w 12192000"/>
              <a:gd name="connsiteY5" fmla="*/ 306697 h 1179498"/>
              <a:gd name="connsiteX6" fmla="*/ 0 w 12192000"/>
              <a:gd name="connsiteY6" fmla="*/ 429 h 1179498"/>
              <a:gd name="connsiteX7" fmla="*/ 22615 w 12192000"/>
              <a:gd name="connsiteY7" fmla="*/ 10396 h 1179498"/>
              <a:gd name="connsiteX8" fmla="*/ 6095513 w 12192000"/>
              <a:gd name="connsiteY8" fmla="*/ 1036510 h 1179498"/>
              <a:gd name="connsiteX9" fmla="*/ 12168411 w 12192000"/>
              <a:gd name="connsiteY9" fmla="*/ 10396 h 1179498"/>
            </a:gdLst>
            <a:rect l="l" t="t" r="r" b="b"/>
            <a:pathLst>
              <a:path w="12192000" h="1179498">
                <a:moveTo>
                  <a:pt x="12192000" y="0"/>
                </a:moveTo>
                <a:lnTo>
                  <a:pt x="12192000" y="306336"/>
                </a:lnTo>
                <a:lnTo>
                  <a:pt x="12168411" y="315093"/>
                </a:lnTo>
                <a:cubicBezTo>
                  <a:pt x="10667634" y="846116"/>
                  <a:pt x="8502636" y="1179498"/>
                  <a:pt x="6095513" y="1179498"/>
                </a:cubicBezTo>
                <a:cubicBezTo>
                  <a:pt x="3688390" y="1179498"/>
                  <a:pt x="1523392" y="846116"/>
                  <a:pt x="22615" y="315093"/>
                </a:cubicBezTo>
                <a:lnTo>
                  <a:pt x="0" y="306697"/>
                </a:lnTo>
                <a:lnTo>
                  <a:pt x="0" y="429"/>
                </a:lnTo>
                <a:lnTo>
                  <a:pt x="22615" y="10396"/>
                </a:lnTo>
                <a:cubicBezTo>
                  <a:pt x="1523392" y="640760"/>
                  <a:pt x="3688390" y="1036510"/>
                  <a:pt x="6095513" y="1036510"/>
                </a:cubicBezTo>
                <a:cubicBezTo>
                  <a:pt x="8502636" y="1036510"/>
                  <a:pt x="10667634" y="640760"/>
                  <a:pt x="12168411" y="1039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50000">
                <a:schemeClr val="accent1"/>
              </a:gs>
              <a:gs pos="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 xmlns:a="http://schemas.openxmlformats.org/drawingml/2006/main" w="3810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4531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73DF22DA-883E-DD43-60DE-224AC1EA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3889034" cy="6858001"/>
          </a:xfrm>
          <a:custGeom xmlns:a="http://schemas.openxmlformats.org/drawingml/2006/main">
            <a:gdLst>
              <a:gd name="connsiteX0" fmla="*/ 1177297 w 3889034"/>
              <a:gd name="connsiteY0" fmla="*/ 0 h 6858001"/>
              <a:gd name="connsiteX1" fmla="*/ 2852524 w 3889034"/>
              <a:gd name="connsiteY1" fmla="*/ 0 h 6858001"/>
              <a:gd name="connsiteX2" fmla="*/ 2862920 w 3889034"/>
              <a:gd name="connsiteY2" fmla="*/ 13269 h 6858001"/>
              <a:gd name="connsiteX3" fmla="*/ 3889034 w 3889034"/>
              <a:gd name="connsiteY3" fmla="*/ 3429274 h 6858001"/>
              <a:gd name="connsiteX4" fmla="*/ 2862920 w 3889034"/>
              <a:gd name="connsiteY4" fmla="*/ 6845279 h 6858001"/>
              <a:gd name="connsiteX5" fmla="*/ 2852953 w 3889034"/>
              <a:gd name="connsiteY5" fmla="*/ 6858000 h 6858001"/>
              <a:gd name="connsiteX6" fmla="*/ 2472267 w 3889034"/>
              <a:gd name="connsiteY6" fmla="*/ 6858000 h 6858001"/>
              <a:gd name="connsiteX7" fmla="*/ 2472267 w 3889034"/>
              <a:gd name="connsiteY7" fmla="*/ 6858001 h 6858001"/>
              <a:gd name="connsiteX8" fmla="*/ 0 w 3889034"/>
              <a:gd name="connsiteY8" fmla="*/ 6858001 h 6858001"/>
              <a:gd name="connsiteX9" fmla="*/ 0 w 3889034"/>
              <a:gd name="connsiteY9" fmla="*/ 1 h 6858001"/>
              <a:gd name="connsiteX10" fmla="*/ 1177297 w 3889034"/>
              <a:gd name="connsiteY10" fmla="*/ 1 h 6858001"/>
            </a:gdLst>
            <a:rect l="l" t="t" r="r" b="b"/>
            <a:pathLst>
              <a:path w="3889034" h="6858001">
                <a:moveTo>
                  <a:pt x="1177297" y="0"/>
                </a:moveTo>
                <a:lnTo>
                  <a:pt x="2852524" y="0"/>
                </a:lnTo>
                <a:lnTo>
                  <a:pt x="2862920" y="13269"/>
                </a:lnTo>
                <a:cubicBezTo>
                  <a:pt x="3493284" y="857456"/>
                  <a:pt x="3889034" y="2075267"/>
                  <a:pt x="3889034" y="3429274"/>
                </a:cubicBezTo>
                <a:cubicBezTo>
                  <a:pt x="3889034" y="4783280"/>
                  <a:pt x="3493284" y="6001092"/>
                  <a:pt x="2862920" y="6845279"/>
                </a:cubicBezTo>
                <a:lnTo>
                  <a:pt x="2852953" y="6858000"/>
                </a:lnTo>
                <a:lnTo>
                  <a:pt x="2472267" y="6858000"/>
                </a:lnTo>
                <a:lnTo>
                  <a:pt x="2472267" y="6858001"/>
                </a:lnTo>
                <a:lnTo>
                  <a:pt x="0" y="6858001"/>
                </a:lnTo>
                <a:lnTo>
                  <a:pt x="0" y="1"/>
                </a:lnTo>
                <a:lnTo>
                  <a:pt x="1177297" y="1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D15D2C0-A57B-C619-31E7-B781B5DA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8" y="2495171"/>
            <a:ext cx="1997246" cy="12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6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8E3E074-33FB-6392-BE69-92F001C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2" y="3752717"/>
            <a:ext cx="181620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0" i="0" spc="3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pc="3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23F9EAE1-C0A2-47D4-FBFC-DBDBCF00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751" y="1654455"/>
            <a:ext cx="684000" cy="68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alpha val="80000"/>
                </a:schemeClr>
              </a:gs>
              <a:gs pos="100000">
                <a:schemeClr val="accent1"/>
              </a:gs>
            </a:gsLst>
            <a:lin ang="10800000" scaled="1"/>
          </a:gradFill>
          <a:ln xmlns:a="http://schemas.openxmlformats.org/drawingml/2006/main" w="6350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C1AE6449-CB16-4741-8BEB-A6B3060A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4729" y="1765623"/>
            <a:ext cx="56297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274A02C-DA2D-B3E8-12B6-638A9F01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3873" y="1528518"/>
            <a:ext cx="273190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DSOCOL</a:t>
            </a:r>
            <a:r>
              <a:rPr sz="28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</a:t>
            </a:r>
            <a:endParaRPr sz="28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6315B21-0BE9-7C8C-10A2-40FCEFD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3872" y="2095061"/>
            <a:ext cx="326243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chemeClr val="accent1">
                    <a:alpha val="80000"/>
                  </a:schemeClr>
                </a:solidFill>
                <a:latin typeface="微软雅黑"/>
                <a:ea typeface="微软雅黑"/>
                <a:cs typeface="微软雅黑"/>
              </a:rPr>
              <a:t>多目标优化算法阅读与复现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CE06CC9-70C7-C779-5C2D-676D8D6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751" y="2949173"/>
            <a:ext cx="684000" cy="68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alpha val="80000"/>
                </a:schemeClr>
              </a:gs>
              <a:gs pos="100000">
                <a:schemeClr val="accent1"/>
              </a:gs>
            </a:gsLst>
            <a:lin ang="10800000" scaled="1"/>
          </a:gradFill>
          <a:ln xmlns:a="http://schemas.openxmlformats.org/drawingml/2006/main" w="6350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BF4C3E0-EE02-3504-A85F-C50F3A88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1666" y="3060341"/>
            <a:ext cx="56297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FD7370B-1087-EC9F-8F76-E186F20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3873" y="2822213"/>
            <a:ext cx="2516523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CCMTO</a:t>
            </a:r>
            <a:r>
              <a:rPr sz="28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</a:t>
            </a:r>
            <a:endParaRPr sz="28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6041DAB-B97F-2E13-B2B6-5E7D17EF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3872" y="3390801"/>
            <a:ext cx="295465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>
                    <a:alpha val="80000"/>
                  </a:schemeClr>
                </a:solidFill>
                <a:latin typeface="微软雅黑"/>
                <a:ea typeface="微软雅黑"/>
                <a:cs typeface="微软雅黑"/>
              </a:rPr>
              <a:t>大规模优化算法阅读与复现</a:t>
            </a:r>
            <a:endParaRPr sz="2000">
              <a:solidFill>
                <a:schemeClr val="accent1">
                  <a:alpha val="8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A942DADA-9C1D-F2FF-98FD-0BF345D2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751" y="4244707"/>
            <a:ext cx="684000" cy="68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alpha val="80000"/>
                </a:schemeClr>
              </a:gs>
              <a:gs pos="100000">
                <a:schemeClr val="accent1"/>
              </a:gs>
            </a:gsLst>
            <a:lin ang="10800000" scaled="1"/>
          </a:gradFill>
          <a:ln xmlns:a="http://schemas.openxmlformats.org/drawingml/2006/main" w="6350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D8028B3-4295-0212-AC39-CE78CA52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6020" y="4355875"/>
            <a:ext cx="562975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DEFB356-7EB0-500E-C4AF-E7191A0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3873" y="4117953"/>
            <a:ext cx="21723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下一步计划</a:t>
            </a:r>
            <a:endParaRPr sz="28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B5AA6DA-DDD0-4026-6BAB-0E80B4D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3872" y="4686130"/>
            <a:ext cx="198002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chemeClr val="accent1">
                    <a:alpha val="80000"/>
                  </a:schemeClr>
                </a:solidFill>
                <a:latin typeface="微软雅黑"/>
                <a:ea typeface="微软雅黑"/>
                <a:cs typeface="微软雅黑"/>
              </a:rPr>
              <a:t>下一步学习计划</a:t>
            </a:r>
          </a:p>
        </p:txBody>
      </p:sp>
    </p:spTree>
    <p:extLst>
      <p:ext uri="{BB962C8B-B14F-4D97-AF65-F5344CB8AC3E}">
        <p14:creationId xmlns:p14="http://schemas.microsoft.com/office/powerpoint/2010/main" val="24103668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41433D1-43E8-DD0D-F46A-26D76DDF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12" y="3274178"/>
            <a:ext cx="5783216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0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DSOCOL</a:t>
            </a:r>
            <a:r>
              <a:rPr sz="60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C7D195E-49A5-BE26-7ACE-876E14C9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4" y="1807200"/>
            <a:ext cx="1704313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0" b="1">
                <a:gradFill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/>
                <a:ea typeface="微软雅黑"/>
                <a:cs typeface="微软雅黑"/>
              </a:rPr>
              <a:t>01</a:t>
            </a:r>
            <a:endParaRPr sz="9600" b="1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01EE156-4555-7771-BA2D-E79A1587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8" y="4388079"/>
            <a:ext cx="513199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spc="600">
                <a:solidFill>
                  <a:schemeClr val="accent1">
                    <a:alpha val="70000"/>
                  </a:schemeClr>
                </a:solidFill>
                <a:latin typeface="微软雅黑"/>
                <a:ea typeface="微软雅黑"/>
                <a:cs typeface="微软雅黑"/>
              </a:rPr>
              <a:t>多目标优化算法阅读与复现</a:t>
            </a:r>
            <a:endParaRPr sz="2000" i="0" spc="600">
              <a:solidFill>
                <a:schemeClr val="accent1">
                  <a:alpha val="7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59EE3D15-860F-2522-D80C-B6F4928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6613693" y="1254294"/>
            <a:ext cx="6858002" cy="4349415"/>
          </a:xfrm>
          <a:custGeom xmlns:a="http://schemas.openxmlformats.org/drawingml/2006/main"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BE174531-0021-67FC-C7DD-5D263886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865" y="2565000"/>
            <a:ext cx="1728000" cy="172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635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3cdc2803e4fe3"/>
          <a:srcRect xmlns:a="http://schemas.openxmlformats.org/drawingml/2006/main" l="4391" t="0" r="4391" b="0"/>
          <a:stretch xmlns:a="http://schemas.openxmlformats.org/drawingml/2006/main"/>
        </p:blipFill>
        <p:spPr>
          <a:xfrm xmlns:a="http://schemas.openxmlformats.org/drawingml/2006/main">
            <a:off x="6984864" y="2471664"/>
            <a:ext cx="1728002" cy="18943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60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B5EC128-0E5C-A68A-764B-AB353D43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BB4F2AD-D7DF-B281-90EB-D72C417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3C197A2-1D44-9B0D-37E7-D071092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264BF46-CC27-6567-4252-43612DA5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DF9D180B-2A36-4370-8F33-F3FC6BB7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47F7CA94-F199-4793-9021-121C7D04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57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9F04B1D2-B414-4E8D-8207-4B2EF0F4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58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2492381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32E6B15-424C-5867-88F0-CDE9F88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083B2F0-8CAB-B6DE-48CC-E0FBC9AF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4D5A76C-4551-8A0C-889C-084E8FDC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9098C5C-47C8-DA32-3D41-EE9DC674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24558CCB-780B-44F0-BDC9-23EC51CD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27128E3B-B4B1-4AE5-85C4-FC31E6B1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01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CF41446E-7DE0-46C3-AB81-68CE449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58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27290862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F0CA557-79A0-A37B-B086-CACBB5BD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D901274-88A9-1582-B0EE-E57317B7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0DFB9AB-E463-01DD-1FEE-8708F7B3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39F8A1E-AB18-8C52-8874-13EA5B3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7A7F11A1-7EE6-4927-BCDA-F06E7C20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A246DE59-14B0-44EE-B2BC-4E73091E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01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6948B18F-E872-4045-8093-E89BBC03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418" y="1424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7246716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F442EF3-0AEE-12CB-6255-03E81152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254A338-6082-B2CF-A60F-1306B22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4E2E12B-5C92-F64F-B814-4C9C2F93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7F1514E-F1D8-82DE-5F07-B01ACAB5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76214E45-85C1-487C-B882-F2F197BE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6CE7ACBB-FD55-4754-9070-54C9B994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01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16E2E292-2FF0-44B7-9397-88D31ECF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418" y="1424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E18EE02B-453F-4BFA-969C-3345BF3C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659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41458685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BCD9040-296F-731A-3B3A-B52D648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12" y="3274178"/>
            <a:ext cx="5144485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0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CCMTO</a:t>
            </a:r>
            <a:r>
              <a:rPr sz="60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B0E1F64-77B4-03A1-57FD-4D0395D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4" y="1807200"/>
            <a:ext cx="1704313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0" b="1">
                <a:gradFill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/>
                <a:ea typeface="微软雅黑"/>
                <a:cs typeface="微软雅黑"/>
              </a:rPr>
              <a:t>02</a:t>
            </a:r>
            <a:endParaRPr sz="9600" b="1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07806C3-CA09-9FAE-9E46-4C23C83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7" y="4388079"/>
            <a:ext cx="506519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i="0" spc="600">
                <a:solidFill>
                  <a:schemeClr val="accent1">
                    <a:alpha val="70000"/>
                  </a:schemeClr>
                </a:solidFill>
                <a:latin typeface="微软雅黑"/>
                <a:ea typeface="微软雅黑"/>
                <a:cs typeface="微软雅黑"/>
              </a:rPr>
              <a:t>大规模优化算法阅读与复现</a:t>
            </a:r>
          </a:p>
        </p:txBody>
      </p:sp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2861484-B83F-A869-D9E8-7DCE0A67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6613693" y="1254294"/>
            <a:ext cx="6858002" cy="4349415"/>
          </a:xfrm>
          <a:custGeom xmlns:a="http://schemas.openxmlformats.org/drawingml/2006/main"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0EC3DBF9-D901-0817-1C1F-51874D93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865" y="2565000"/>
            <a:ext cx="1728000" cy="172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635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6cf6bab8248f8"/>
          <a:srcRect xmlns:a="http://schemas.openxmlformats.org/drawingml/2006/main" l="4391" t="0" r="4391" b="0"/>
          <a:stretch xmlns:a="http://schemas.openxmlformats.org/drawingml/2006/main"/>
        </p:blipFill>
        <p:spPr>
          <a:xfrm xmlns:a="http://schemas.openxmlformats.org/drawingml/2006/main">
            <a:off x="6984864" y="2471664"/>
            <a:ext cx="1728002" cy="18943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2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E17E593-5DF2-C162-CBE8-ED9B421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A829996-2820-FF9E-BBA1-ED644145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2CC0349-9D59-5E1A-D6EC-8689981D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15D5256-B57E-B63B-B316-D24AB776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D28CDE92-9F80-4241-9110-AE8845F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D157DEB1-BDC1-42DD-ABE7-39FF4EA0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57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75757A80-42C8-44C3-97D3-93424A54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58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560C7959-68F4-4E11-AE29-0D5917F7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1118"/>
                </a:solidFill>
              </a:defRPr>
            </a:pPr>
            <a:r>
              <a:rPr sz="2250" b="1">
                <a:solidFill>
                  <a:srgbClr val="8E1118"/>
                </a:solidFill>
              </a:rPr>
              <a:t>CCMTO 的核心思路：让子问题共享知识、协同进化</a:t>
            </a:r>
          </a:p>
        </p:txBody>
      </p:sp>
      <p:sp>
        <p:nvSpPr>
          <p:cNvPr id="36" name="module-subtitle">
            <a:extLst xmlns:a="http://schemas.openxmlformats.org/drawingml/2006/main">
              <a:ext uri="{FF2B5EF4-FFF2-40B4-BE49-F238E27FC236}">
                <a16:creationId xmlns:a16="http://schemas.microsoft.com/office/drawing/2014/main" id="{7A633201-DB05-49F6-A7D5-5C22AE13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论文贡献不是“再做一个 CC”，而是把子问题组织成可迁移的多任务系统</a:t>
            </a:r>
          </a:p>
        </p:txBody>
      </p:sp>
      <p:sp>
        <p:nvSpPr>
          <p:cNvPr id="37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6F87572A-D9FB-48A3-BC9A-5B720E04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9B5B8"/>
            </a:solidFill>
            <a:prstDash val="solid"/>
          </a:ln>
        </p:spPr>
      </p:sp>
      <p:sp>
        <p:nvSpPr>
          <p:cNvPr id="38" name="motivation-left">
            <a:extLst xmlns:a="http://schemas.openxmlformats.org/drawingml/2006/main">
              <a:ext uri="{FF2B5EF4-FFF2-40B4-BE49-F238E27FC236}">
                <a16:creationId xmlns:a16="http://schemas.microsoft.com/office/drawing/2014/main" id="{92A36FB4-FE29-444E-B825-03B137B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4762500" cy="3143250"/>
          </a:xfrm>
          <a:prstGeom xmlns:a="http://schemas.openxmlformats.org/drawingml/2006/main" prst="roundRect">
            <a:avLst>
              <a:gd name="adj" fmla="val 303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39" name="contribution-right">
            <a:extLst xmlns:a="http://schemas.openxmlformats.org/drawingml/2006/main">
              <a:ext uri="{FF2B5EF4-FFF2-40B4-BE49-F238E27FC236}">
                <a16:creationId xmlns:a16="http://schemas.microsoft.com/office/drawing/2014/main" id="{F85137D0-1936-4BC4-A8C4-30B302D1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47850"/>
            <a:ext cx="5676900" cy="3143250"/>
          </a:xfrm>
          <a:prstGeom xmlns:a="http://schemas.openxmlformats.org/drawingml/2006/main" prst="roundRect">
            <a:avLst>
              <a:gd name="adj" fmla="val 303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1C9CC"/>
            </a:solidFill>
            <a:prstDash val="solid"/>
          </a:ln>
        </p:spPr>
      </p:sp>
      <p:sp>
        <p:nvSpPr>
          <p:cNvPr id="40" name="left-kicker">
            <a:extLst xmlns:a="http://schemas.openxmlformats.org/drawingml/2006/main">
              <a:ext uri="{FF2B5EF4-FFF2-40B4-BE49-F238E27FC236}">
                <a16:creationId xmlns:a16="http://schemas.microsoft.com/office/drawing/2014/main" id="{1FB7874A-0A46-476E-BD5F-7413328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118"/>
                </a:solidFill>
              </a:defRPr>
            </a:pPr>
            <a:r>
              <a:rPr sz="1575" b="1">
                <a:solidFill>
                  <a:srgbClr val="8E1118"/>
                </a:solidFill>
              </a:rPr>
              <a:t>传统 CC 的瓶颈</a:t>
            </a:r>
          </a:p>
        </p:txBody>
      </p:sp>
      <p:sp>
        <p:nvSpPr>
          <p:cNvPr id="41" name="left-body">
            <a:extLst xmlns:a="http://schemas.openxmlformats.org/drawingml/2006/main">
              <a:ext uri="{FF2B5EF4-FFF2-40B4-BE49-F238E27FC236}">
                <a16:creationId xmlns:a16="http://schemas.microsoft.com/office/drawing/2014/main" id="{F40E5A63-6C7D-400B-9672-0FDB70EF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095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434"/>
                </a:solidFill>
              </a:defRPr>
            </a:pPr>
            <a:r>
              <a:rPr sz="1350" b="0">
                <a:solidFill>
                  <a:srgbClr val="343434"/>
                </a:solidFill>
              </a:rPr>
              <a:t>• 大规模黑盒优化（D ≥ 1000）面临维度灾难</a:t>
            </a:r>
          </a:p>
          <a:p xmlns:a="http://schemas.openxmlformats.org/drawingml/2006/main">
            <a:pPr algn="l">
              <a:defRPr sz="1350" b="0">
                <a:solidFill>
                  <a:srgbClr val="343434"/>
                </a:solidFill>
              </a:defRPr>
            </a:pPr>
            <a:r>
              <a:rPr sz="1350" b="0">
                <a:solidFill>
                  <a:srgbClr val="343434"/>
                </a:solidFill>
              </a:rPr>
              <a:t>• 子问题多被视作孤立单任务，知识共享不足</a:t>
            </a:r>
          </a:p>
          <a:p xmlns:a="http://schemas.openxmlformats.org/drawingml/2006/main">
            <a:pPr algn="l">
              <a:defRPr sz="1350" b="0">
                <a:solidFill>
                  <a:srgbClr val="343434"/>
                </a:solidFill>
              </a:defRPr>
            </a:pPr>
            <a:r>
              <a:rPr sz="1350" b="0">
                <a:solidFill>
                  <a:srgbClr val="343434"/>
                </a:solidFill>
              </a:rPr>
              <a:t>• 顺序优化容易在局部停滞，整体效率受限</a:t>
            </a:r>
          </a:p>
        </p:txBody>
      </p:sp>
      <p:sp>
        <p:nvSpPr>
          <p:cNvPr id="42" name="left-emphasis">
            <a:extLst xmlns:a="http://schemas.openxmlformats.org/drawingml/2006/main">
              <a:ext uri="{FF2B5EF4-FFF2-40B4-BE49-F238E27FC236}">
                <a16:creationId xmlns:a16="http://schemas.microsoft.com/office/drawing/2014/main" id="{C2392B33-52FA-46EE-91BA-0DA8C5E0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1118"/>
                </a:solidFill>
              </a:defRPr>
            </a:pPr>
            <a:r>
              <a:rPr sz="1275" b="1">
                <a:solidFill>
                  <a:srgbClr val="8E1118"/>
                </a:solidFill>
              </a:rPr>
              <a:t>问题：分解降低了维度，却也切断了迁移机会。</a:t>
            </a:r>
          </a:p>
        </p:txBody>
      </p:sp>
      <p:sp>
        <p:nvSpPr>
          <p:cNvPr id="43" name="right-kicker">
            <a:extLst xmlns:a="http://schemas.openxmlformats.org/drawingml/2006/main">
              <a:ext uri="{FF2B5EF4-FFF2-40B4-BE49-F238E27FC236}">
                <a16:creationId xmlns:a16="http://schemas.microsoft.com/office/drawing/2014/main" id="{7FF1F25A-08EF-4FF4-AB2E-9A91A636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118"/>
                </a:solidFill>
              </a:defRPr>
            </a:pPr>
            <a:r>
              <a:rPr sz="1575" b="1">
                <a:solidFill>
                  <a:srgbClr val="8E1118"/>
                </a:solidFill>
              </a:rPr>
              <a:t>论文的三点贡献</a:t>
            </a:r>
          </a:p>
        </p:txBody>
      </p:sp>
      <p:sp>
        <p:nvSpPr>
          <p:cNvPr id="44" name="num-01">
            <a:extLst xmlns:a="http://schemas.openxmlformats.org/drawingml/2006/main">
              <a:ext uri="{FF2B5EF4-FFF2-40B4-BE49-F238E27FC236}">
                <a16:creationId xmlns:a16="http://schemas.microsoft.com/office/drawing/2014/main" id="{7A5FA6ED-1A73-42B3-B1B7-B5AF51C5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01</a:t>
            </a:r>
          </a:p>
        </p:txBody>
      </p:sp>
      <p:sp>
        <p:nvSpPr>
          <p:cNvPr id="45" name="label-01">
            <a:extLst xmlns:a="http://schemas.openxmlformats.org/drawingml/2006/main">
              <a:ext uri="{FF2B5EF4-FFF2-40B4-BE49-F238E27FC236}">
                <a16:creationId xmlns:a16="http://schemas.microsoft.com/office/drawing/2014/main" id="{F1C1E810-BE36-44E1-8E90-A7E920FA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622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CC × EMTO</a:t>
            </a:r>
          </a:p>
        </p:txBody>
      </p:sp>
      <p:sp>
        <p:nvSpPr>
          <p:cNvPr id="46" name="right-01">
            <a:extLst xmlns:a="http://schemas.openxmlformats.org/drawingml/2006/main">
              <a:ext uri="{FF2B5EF4-FFF2-40B4-BE49-F238E27FC236}">
                <a16:creationId xmlns:a16="http://schemas.microsoft.com/office/drawing/2014/main" id="{9C5AED71-CDB5-4236-A6B1-D31F63A4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434"/>
                </a:solidFill>
              </a:defRPr>
            </a:pPr>
            <a:r>
              <a:rPr sz="1275" b="0">
                <a:solidFill>
                  <a:srgbClr val="343434"/>
                </a:solidFill>
              </a:rPr>
              <a:t>把子问题构建为 MTOPs，并发协同求解。</a:t>
            </a:r>
          </a:p>
        </p:txBody>
      </p:sp>
      <p:sp>
        <p:nvSpPr>
          <p:cNvPr id="47" name="num-02">
            <a:extLst xmlns:a="http://schemas.openxmlformats.org/drawingml/2006/main">
              <a:ext uri="{FF2B5EF4-FFF2-40B4-BE49-F238E27FC236}">
                <a16:creationId xmlns:a16="http://schemas.microsoft.com/office/drawing/2014/main" id="{6520C7FD-990F-4524-99D9-8D85959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02</a:t>
            </a:r>
          </a:p>
        </p:txBody>
      </p:sp>
      <p:sp>
        <p:nvSpPr>
          <p:cNvPr id="48" name="label-02">
            <a:extLst xmlns:a="http://schemas.openxmlformats.org/drawingml/2006/main">
              <a:ext uri="{FF2B5EF4-FFF2-40B4-BE49-F238E27FC236}">
                <a16:creationId xmlns:a16="http://schemas.microsoft.com/office/drawing/2014/main" id="{4319BF58-9481-462A-81C9-5B8F54F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约束 + 调度</a:t>
            </a:r>
          </a:p>
        </p:txBody>
      </p:sp>
      <p:sp>
        <p:nvSpPr>
          <p:cNvPr id="49" name="right-02">
            <a:extLst xmlns:a="http://schemas.openxmlformats.org/drawingml/2006/main">
              <a:ext uri="{FF2B5EF4-FFF2-40B4-BE49-F238E27FC236}">
                <a16:creationId xmlns:a16="http://schemas.microsoft.com/office/drawing/2014/main" id="{D0B9C958-04F5-4676-A0F4-E3176F3D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434"/>
                </a:solidFill>
              </a:defRPr>
            </a:pPr>
            <a:r>
              <a:rPr sz="1275" b="0">
                <a:solidFill>
                  <a:srgbClr val="343434"/>
                </a:solidFill>
              </a:rPr>
              <a:t>用维度比率约束任务构建；按贡献度动态分配算力。</a:t>
            </a:r>
          </a:p>
        </p:txBody>
      </p:sp>
      <p:sp>
        <p:nvSpPr>
          <p:cNvPr id="50" name="num-03">
            <a:extLst xmlns:a="http://schemas.openxmlformats.org/drawingml/2006/main">
              <a:ext uri="{FF2B5EF4-FFF2-40B4-BE49-F238E27FC236}">
                <a16:creationId xmlns:a16="http://schemas.microsoft.com/office/drawing/2014/main" id="{EE4BF13C-3390-4992-A014-D9EACBEA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03</a:t>
            </a:r>
          </a:p>
        </p:txBody>
      </p:sp>
      <p:sp>
        <p:nvSpPr>
          <p:cNvPr id="51" name="label-03">
            <a:extLst xmlns:a="http://schemas.openxmlformats.org/drawingml/2006/main">
              <a:ext uri="{FF2B5EF4-FFF2-40B4-BE49-F238E27FC236}">
                <a16:creationId xmlns:a16="http://schemas.microsoft.com/office/drawing/2014/main" id="{C3BF60AE-7C1F-459A-BF9D-9379965D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MTES-DAKG</a:t>
            </a:r>
          </a:p>
        </p:txBody>
      </p:sp>
      <p:sp>
        <p:nvSpPr>
          <p:cNvPr id="52" name="right-03">
            <a:extLst xmlns:a="http://schemas.openxmlformats.org/drawingml/2006/main">
              <a:ext uri="{FF2B5EF4-FFF2-40B4-BE49-F238E27FC236}">
                <a16:creationId xmlns:a16="http://schemas.microsoft.com/office/drawing/2014/main" id="{0B5C2D7E-CF71-4D8F-8C3E-3EFC97C3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3434"/>
                </a:solidFill>
              </a:defRPr>
            </a:pPr>
            <a:r>
              <a:rPr sz="1275" b="0">
                <a:solidFill>
                  <a:srgbClr val="343434"/>
                </a:solidFill>
              </a:rPr>
              <a:t>同时迁移“最优域”和“函数形状”知识。</a:t>
            </a:r>
          </a:p>
        </p:txBody>
      </p:sp>
      <p:sp>
        <p:nvSpPr>
          <p:cNvPr id="53" name="takeaway">
            <a:extLst xmlns:a="http://schemas.openxmlformats.org/drawingml/2006/main">
              <a:ext uri="{FF2B5EF4-FFF2-40B4-BE49-F238E27FC236}">
                <a16:creationId xmlns:a16="http://schemas.microsoft.com/office/drawing/2014/main" id="{ED15B761-DB3E-455F-80FD-6BFA8B04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782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</p:sp>
      <p:sp>
        <p:nvSpPr>
          <p:cNvPr id="5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CE824470-5F34-4C59-9B33-C7E617C1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一句话：将“独立求解的子问题”升级为“共享知识、动态调度的多任务协同”。</a:t>
            </a:r>
          </a:p>
        </p:txBody>
      </p:sp>
    </p:spTree>
    <p:extLst>
      <p:ext uri="{BB962C8B-B14F-4D97-AF65-F5344CB8AC3E}">
        <p14:creationId xmlns:p14="http://schemas.microsoft.com/office/powerpoint/2010/main" val="22030482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5045156-3659-8426-FC8B-75B788DF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528E028-9E07-0632-1DBE-2C2959E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BA56EB7-F52C-A28F-67CC-78914840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604C1AC-519A-D967-7E5F-CBDAF6D2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9893689D-B367-413A-B129-DDA4034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82C7F666-B0E4-429B-AFA8-110A6874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01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7DF68FB3-CD90-48E2-B54A-F4174BA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58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1A90C7AB-B7B9-4047-80FA-ACBFF2E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1118"/>
                </a:solidFill>
              </a:defRPr>
            </a:pPr>
            <a:r>
              <a:rPr sz="2250" b="1">
                <a:solidFill>
                  <a:srgbClr val="8E1118"/>
                </a:solidFill>
              </a:rPr>
              <a:t>算法闭环：分组 → 构建 → 迁移 → 调度</a:t>
            </a:r>
          </a:p>
        </p:txBody>
      </p:sp>
      <p:sp>
        <p:nvSpPr>
          <p:cNvPr id="28" name="module-subtitle">
            <a:extLst xmlns:a="http://schemas.openxmlformats.org/drawingml/2006/main">
              <a:ext uri="{FF2B5EF4-FFF2-40B4-BE49-F238E27FC236}">
                <a16:creationId xmlns:a16="http://schemas.microsoft.com/office/drawing/2014/main" id="{DD50D30C-CD2C-48BC-8710-6EEE4E03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CCMTO 的关键不在单个算子，而在四步协同机制形成闭环</a:t>
            </a:r>
          </a:p>
        </p:txBody>
      </p:sp>
      <p:sp>
        <p:nvSpPr>
          <p:cNvPr id="29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98322B92-809F-473E-BDFE-224F50DD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9B5B8"/>
            </a:solidFill>
            <a:prstDash val="solid"/>
          </a:ln>
        </p:spPr>
      </p:sp>
      <p:sp>
        <p:nvSpPr>
          <p:cNvPr id="3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97E7F04-6A20-453C-9FB1-0D2E90C4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B5B8"/>
          </a:solidFill>
          <a:ln xmlns:a="http://schemas.openxmlformats.org/drawingml/2006/main" w="0">
            <a:solidFill>
              <a:srgbClr val="E9B5B8"/>
            </a:solidFill>
            <a:prstDash val="solid"/>
          </a:ln>
        </p:spPr>
      </p:sp>
      <p:sp>
        <p:nvSpPr>
          <p:cNvPr id="31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BCD3471-DCEF-48D7-AC80-4AAF7E0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B5B8"/>
          </a:solidFill>
          <a:ln xmlns:a="http://schemas.openxmlformats.org/drawingml/2006/main" w="0">
            <a:solidFill>
              <a:srgbClr val="E9B5B8"/>
            </a:solidFill>
            <a:prstDash val="solid"/>
          </a:ln>
        </p:spPr>
      </p:sp>
      <p:sp>
        <p:nvSpPr>
          <p:cNvPr id="32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96477B2-7D78-4667-8BD4-809D6F72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6695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B5B8"/>
          </a:solidFill>
          <a:ln xmlns:a="http://schemas.openxmlformats.org/drawingml/2006/main" w="0">
            <a:solidFill>
              <a:srgbClr val="E9B5B8"/>
            </a:solidFill>
            <a:prstDash val="solid"/>
          </a:ln>
        </p:spPr>
      </p:sp>
      <p:sp>
        <p:nvSpPr>
          <p:cNvPr id="33" name="flow-box-1">
            <a:extLst xmlns:a="http://schemas.openxmlformats.org/drawingml/2006/main">
              <a:ext uri="{FF2B5EF4-FFF2-40B4-BE49-F238E27FC236}">
                <a16:creationId xmlns:a16="http://schemas.microsoft.com/office/drawing/2014/main" id="{089001C7-1BD4-4E09-AAE1-11E817D0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26695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34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1924A1FB-D59D-42C8-90CA-C4A6C42F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①</a:t>
            </a:r>
          </a:p>
        </p:txBody>
      </p:sp>
      <p:sp>
        <p:nvSpPr>
          <p:cNvPr id="35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BEDA72C8-9D88-4261-97B0-F23F69B1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EDG 差分分组</a:t>
            </a:r>
          </a:p>
        </p:txBody>
      </p:sp>
      <p:sp>
        <p:nvSpPr>
          <p:cNvPr id="36" name="flow-body-1">
            <a:extLst xmlns:a="http://schemas.openxmlformats.org/drawingml/2006/main">
              <a:ext uri="{FF2B5EF4-FFF2-40B4-BE49-F238E27FC236}">
                <a16:creationId xmlns:a16="http://schemas.microsoft.com/office/drawing/2014/main" id="{E1AD7BD9-CF05-4A47-943C-B1E6B2D4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识别变量关联，形成子问题</a:t>
            </a:r>
          </a:p>
        </p:txBody>
      </p:sp>
      <p:sp>
        <p:nvSpPr>
          <p:cNvPr id="37" name="flow-box-2">
            <a:extLst xmlns:a="http://schemas.openxmlformats.org/drawingml/2006/main">
              <a:ext uri="{FF2B5EF4-FFF2-40B4-BE49-F238E27FC236}">
                <a16:creationId xmlns:a16="http://schemas.microsoft.com/office/drawing/2014/main" id="{3EE7C089-0090-4CA4-AFB1-2EA5E5E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26695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38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45BBF84A-0BB7-4D94-9A51-A032175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574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②</a:t>
            </a:r>
          </a:p>
        </p:txBody>
      </p:sp>
      <p:sp>
        <p:nvSpPr>
          <p:cNvPr id="3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31D66DB5-70A7-4DC5-B404-C1FDA94A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76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MTOPs 构建</a:t>
            </a:r>
          </a:p>
        </p:txBody>
      </p:sp>
      <p:sp>
        <p:nvSpPr>
          <p:cNvPr id="4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9A5D59EC-95D3-454E-8558-BA97B72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n_sub = 5；d_max = 2</a:t>
            </a:r>
          </a:p>
        </p:txBody>
      </p:sp>
      <p:sp>
        <p:nvSpPr>
          <p:cNvPr id="41" name="flow-box-3">
            <a:extLst xmlns:a="http://schemas.openxmlformats.org/drawingml/2006/main">
              <a:ext uri="{FF2B5EF4-FFF2-40B4-BE49-F238E27FC236}">
                <a16:creationId xmlns:a16="http://schemas.microsoft.com/office/drawing/2014/main" id="{DBCAB38D-F4F1-48D3-989E-DC48DC65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26695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1C9CC"/>
            </a:solidFill>
            <a:prstDash val="solid"/>
          </a:ln>
        </p:spPr>
      </p:sp>
      <p:sp>
        <p:nvSpPr>
          <p:cNvPr id="42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C298840A-A363-4940-B1BD-767A332E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③</a:t>
            </a:r>
          </a:p>
        </p:txBody>
      </p:sp>
      <p:sp>
        <p:nvSpPr>
          <p:cNvPr id="4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34A4A23A-BFA0-4AF9-9B66-607A746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MTES-DAKG 演化</a:t>
            </a:r>
          </a:p>
        </p:txBody>
      </p:sp>
      <p:sp>
        <p:nvSpPr>
          <p:cNvPr id="4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4988B444-19D3-4587-982C-80CB1ED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迁移最优域 + 函数形状</a:t>
            </a:r>
          </a:p>
        </p:txBody>
      </p:sp>
      <p:sp>
        <p:nvSpPr>
          <p:cNvPr id="45" name="flow-box-4">
            <a:extLst xmlns:a="http://schemas.openxmlformats.org/drawingml/2006/main">
              <a:ext uri="{FF2B5EF4-FFF2-40B4-BE49-F238E27FC236}">
                <a16:creationId xmlns:a16="http://schemas.microsoft.com/office/drawing/2014/main" id="{4515041B-A151-459D-8F12-409073E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24050"/>
            <a:ext cx="226695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46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6040B58C-C2D4-49D9-B9A0-292434F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574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④</a:t>
            </a:r>
          </a:p>
        </p:txBody>
      </p:sp>
      <p:sp>
        <p:nvSpPr>
          <p:cNvPr id="4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30301CDA-CA6C-4B46-A1A7-7C7B8661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76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动态调度</a:t>
            </a:r>
          </a:p>
        </p:txBody>
      </p:sp>
      <p:sp>
        <p:nvSpPr>
          <p:cNvPr id="4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52DFE805-8C93-451F-9768-72D071D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343434"/>
                </a:solidFill>
              </a:defRPr>
            </a:pPr>
            <a:r>
              <a:rPr sz="1163" b="0">
                <a:solidFill>
                  <a:srgbClr val="343434"/>
                </a:solidFill>
              </a:rPr>
              <a:t>按 ΔF_i 分配；剔除停滞任务</a:t>
            </a:r>
          </a:p>
        </p:txBody>
      </p:sp>
      <p:sp>
        <p:nvSpPr>
          <p:cNvPr id="49" name="mechanism-heading">
            <a:extLst xmlns:a="http://schemas.openxmlformats.org/drawingml/2006/main">
              <a:ext uri="{FF2B5EF4-FFF2-40B4-BE49-F238E27FC236}">
                <a16:creationId xmlns:a16="http://schemas.microsoft.com/office/drawing/2014/main" id="{8AF4DE53-B4FC-480B-B651-B87734C8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118"/>
                </a:solidFill>
              </a:defRPr>
            </a:pPr>
            <a:r>
              <a:rPr sz="1575" b="1">
                <a:solidFill>
                  <a:srgbClr val="8E1118"/>
                </a:solidFill>
              </a:rPr>
              <a:t>三大核心机制</a:t>
            </a:r>
          </a:p>
        </p:txBody>
      </p:sp>
      <p:sp>
        <p:nvSpPr>
          <p:cNvPr id="50" name="mechanism-card-1">
            <a:extLst xmlns:a="http://schemas.openxmlformats.org/drawingml/2006/main">
              <a:ext uri="{FF2B5EF4-FFF2-40B4-BE49-F238E27FC236}">
                <a16:creationId xmlns:a16="http://schemas.microsoft.com/office/drawing/2014/main" id="{5E48161B-DA48-4339-9586-AD4DB324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51" name="mechanism-title-1">
            <a:extLst xmlns:a="http://schemas.openxmlformats.org/drawingml/2006/main">
              <a:ext uri="{FF2B5EF4-FFF2-40B4-BE49-F238E27FC236}">
                <a16:creationId xmlns:a16="http://schemas.microsoft.com/office/drawing/2014/main" id="{F0B1F8C6-D00D-4EE3-AF45-A35D3C79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E1118"/>
                </a:solidFill>
              </a:defRPr>
            </a:pPr>
            <a:r>
              <a:rPr sz="1425" b="1">
                <a:solidFill>
                  <a:srgbClr val="8E1118"/>
                </a:solidFill>
              </a:rPr>
              <a:t>MTOPs 构建策略</a:t>
            </a:r>
          </a:p>
        </p:txBody>
      </p:sp>
      <p:sp>
        <p:nvSpPr>
          <p:cNvPr id="52" name="mechanism-body-1">
            <a:extLst xmlns:a="http://schemas.openxmlformats.org/drawingml/2006/main">
              <a:ext uri="{FF2B5EF4-FFF2-40B4-BE49-F238E27FC236}">
                <a16:creationId xmlns:a16="http://schemas.microsoft.com/office/drawing/2014/main" id="{49A49E9F-0894-4A8E-993B-ABA92E9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控制任务规模与维度比率，避免跨任务维度失配造成搜索盲区。</a:t>
            </a:r>
          </a:p>
        </p:txBody>
      </p:sp>
      <p:sp>
        <p:nvSpPr>
          <p:cNvPr id="53" name="mechanism-card-2">
            <a:extLst xmlns:a="http://schemas.openxmlformats.org/drawingml/2006/main">
              <a:ext uri="{FF2B5EF4-FFF2-40B4-BE49-F238E27FC236}">
                <a16:creationId xmlns:a16="http://schemas.microsoft.com/office/drawing/2014/main" id="{972F33F7-E1B4-4A8B-B846-B0217040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54" name="mechanism-title-2">
            <a:extLst xmlns:a="http://schemas.openxmlformats.org/drawingml/2006/main">
              <a:ext uri="{FF2B5EF4-FFF2-40B4-BE49-F238E27FC236}">
                <a16:creationId xmlns:a16="http://schemas.microsoft.com/office/drawing/2014/main" id="{7ECD9512-1C69-4217-A0D1-76B98D5A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E1118"/>
                </a:solidFill>
              </a:defRPr>
            </a:pPr>
            <a:r>
              <a:rPr sz="1425" b="1">
                <a:solidFill>
                  <a:srgbClr val="8E1118"/>
                </a:solidFill>
              </a:rPr>
              <a:t>DT-DoS 最优域迁移</a:t>
            </a:r>
          </a:p>
        </p:txBody>
      </p:sp>
      <p:sp>
        <p:nvSpPr>
          <p:cNvPr id="55" name="mechanism-body-2">
            <a:extLst xmlns:a="http://schemas.openxmlformats.org/drawingml/2006/main">
              <a:ext uri="{FF2B5EF4-FFF2-40B4-BE49-F238E27FC236}">
                <a16:creationId xmlns:a16="http://schemas.microsoft.com/office/drawing/2014/main" id="{6AD05399-DE4E-46B5-81DA-B852986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910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动态距离阈值 + 差分梯度校正，让迁移样本指向适应度提升方向。</a:t>
            </a:r>
          </a:p>
        </p:txBody>
      </p:sp>
      <p:sp>
        <p:nvSpPr>
          <p:cNvPr id="56" name="mechanism-card-3">
            <a:extLst xmlns:a="http://schemas.openxmlformats.org/drawingml/2006/main">
              <a:ext uri="{FF2B5EF4-FFF2-40B4-BE49-F238E27FC236}">
                <a16:creationId xmlns:a16="http://schemas.microsoft.com/office/drawing/2014/main" id="{BBC16A0E-120F-43D5-96FA-2ADA2BE5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19500"/>
            <a:ext cx="4191000" cy="1485900"/>
          </a:xfrm>
          <a:prstGeom xmlns:a="http://schemas.openxmlformats.org/drawingml/2006/main" prst="roundRect">
            <a:avLst>
              <a:gd name="adj" fmla="val 512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57" name="mechanism-title-3">
            <a:extLst xmlns:a="http://schemas.openxmlformats.org/drawingml/2006/main">
              <a:ext uri="{FF2B5EF4-FFF2-40B4-BE49-F238E27FC236}">
                <a16:creationId xmlns:a16="http://schemas.microsoft.com/office/drawing/2014/main" id="{5659228F-D8FC-4D61-A43F-BBA886DC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E1118"/>
                </a:solidFill>
              </a:defRPr>
            </a:pPr>
            <a:r>
              <a:rPr sz="1425" b="1">
                <a:solidFill>
                  <a:srgbClr val="8E1118"/>
                </a:solidFill>
              </a:rPr>
              <a:t>AS-SaS + 动态调度</a:t>
            </a:r>
          </a:p>
        </p:txBody>
      </p:sp>
      <p:sp>
        <p:nvSpPr>
          <p:cNvPr id="58" name="mechanism-body-3">
            <a:extLst xmlns:a="http://schemas.openxmlformats.org/drawingml/2006/main">
              <a:ext uri="{FF2B5EF4-FFF2-40B4-BE49-F238E27FC236}">
                <a16:creationId xmlns:a16="http://schemas.microsoft.com/office/drawing/2014/main" id="{D3CBC01E-D849-4E32-B097-9AB62655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91000"/>
            <a:ext cx="3848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精英样本数随代数增加；按收益 ΔF_i 分配资源，并用三重判据识别停滞。</a:t>
            </a:r>
          </a:p>
        </p:txBody>
      </p:sp>
      <p:sp>
        <p:nvSpPr>
          <p:cNvPr id="59" name="complexity-note">
            <a:extLst xmlns:a="http://schemas.openxmlformats.org/drawingml/2006/main">
              <a:ext uri="{FF2B5EF4-FFF2-40B4-BE49-F238E27FC236}">
                <a16:creationId xmlns:a16="http://schemas.microsoft.com/office/drawing/2014/main" id="{8E27C31F-D0DB-4D8E-8F62-5B4DC41E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7823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1C9CC"/>
            </a:solidFill>
            <a:prstDash val="solid"/>
          </a:ln>
        </p:spPr>
      </p:sp>
      <p:sp>
        <p:nvSpPr>
          <p:cNvPr id="60" name="complexity-text">
            <a:extLst xmlns:a="http://schemas.openxmlformats.org/drawingml/2006/main">
              <a:ext uri="{FF2B5EF4-FFF2-40B4-BE49-F238E27FC236}">
                <a16:creationId xmlns:a16="http://schemas.microsoft.com/office/drawing/2014/main" id="{AC5C00BA-DDAF-4A01-AB04-EE3DF61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530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复杂度结论：单循环仍为 O(n²K)，机制增强不引入额外渐进开销。</a:t>
            </a:r>
          </a:p>
        </p:txBody>
      </p:sp>
    </p:spTree>
    <p:extLst>
      <p:ext uri="{BB962C8B-B14F-4D97-AF65-F5344CB8AC3E}">
        <p14:creationId xmlns:p14="http://schemas.microsoft.com/office/powerpoint/2010/main" val="12182039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2D9EF9F-BC55-DAEB-9A3D-49942B21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2BA014E-3CE8-E8D0-23ED-4ED7CFA6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4A34FAA-9BAB-4E7A-8174-D20530B8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7D7538A-E889-74C3-1B64-44170766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D5231CFE-54DE-4C53-B091-CC616C71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F79B63D6-5F72-469A-B27B-34E087C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01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DC3A28E4-7947-42C3-9E11-230CFF0A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418" y="1424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7516FB7B-BD5F-47B7-979B-B21889FA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1118"/>
                </a:solidFill>
              </a:defRPr>
            </a:pPr>
            <a:r>
              <a:rPr sz="2250" b="1">
                <a:solidFill>
                  <a:srgbClr val="8E1118"/>
                </a:solidFill>
              </a:rPr>
              <a:t>复现结果支持论文结论：主算法、参数与组件均有清晰信号</a:t>
            </a:r>
          </a:p>
        </p:txBody>
      </p:sp>
      <p:sp>
        <p:nvSpPr>
          <p:cNvPr id="28" name="module-subtitle">
            <a:extLst xmlns:a="http://schemas.openxmlformats.org/drawingml/2006/main">
              <a:ext uri="{FF2B5EF4-FFF2-40B4-BE49-F238E27FC236}">
                <a16:creationId xmlns:a16="http://schemas.microsoft.com/office/drawing/2014/main" id="{38E93459-5E7E-40FC-8CA6-90F50959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CEC2013 1000D：模块化实现已跑通，复现重点放在“排名 + 机制贡献”</a:t>
            </a:r>
          </a:p>
        </p:txBody>
      </p:sp>
      <p:sp>
        <p:nvSpPr>
          <p:cNvPr id="29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66A6D73F-3C56-4E4C-9DD1-5E7E1EC8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9B5B8"/>
            </a:solidFill>
            <a:prstDash val="solid"/>
          </a:ln>
        </p:spPr>
      </p:sp>
      <p:sp>
        <p:nvSpPr>
          <p:cNvPr id="30" name="metric-1">
            <a:extLst xmlns:a="http://schemas.openxmlformats.org/drawingml/2006/main">
              <a:ext uri="{FF2B5EF4-FFF2-40B4-BE49-F238E27FC236}">
                <a16:creationId xmlns:a16="http://schemas.microsoft.com/office/drawing/2014/main" id="{17E0A1AC-E21B-416F-81E4-763A9A2D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1145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1C9CC"/>
            </a:solidFill>
            <a:prstDash val="solid"/>
          </a:ln>
        </p:spPr>
      </p:sp>
      <p:sp>
        <p:nvSpPr>
          <p:cNvPr id="31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BE1F81EA-D654-45AA-BCCF-F4F73417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</a:rPr>
              <a:t>1.40</a:t>
            </a:r>
          </a:p>
        </p:txBody>
      </p:sp>
      <p:sp>
        <p:nvSpPr>
          <p:cNvPr id="32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BE0EB761-6B74-4C71-9FD3-1DFC4BF9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24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1118"/>
                </a:solidFill>
              </a:defRPr>
            </a:pPr>
            <a:r>
              <a:rPr sz="1125" b="1">
                <a:solidFill>
                  <a:srgbClr val="8E1118"/>
                </a:solidFill>
              </a:rPr>
              <a:t>平均排名</a:t>
            </a:r>
          </a:p>
          <a:p xmlns:a="http://schemas.openxmlformats.org/drawingml/2006/main">
            <a:pPr algn="l">
              <a:defRPr sz="1125" b="1">
                <a:solidFill>
                  <a:srgbClr val="8E1118"/>
                </a:solidFill>
              </a:defRPr>
            </a:pPr>
            <a:r>
              <a:rPr sz="1125" b="1">
                <a:solidFill>
                  <a:srgbClr val="8E1118"/>
                </a:solidFill>
              </a:rPr>
              <a:t>（综合最优）</a:t>
            </a:r>
          </a:p>
        </p:txBody>
      </p:sp>
      <p:sp>
        <p:nvSpPr>
          <p:cNvPr id="33" name="metric-2">
            <a:extLst xmlns:a="http://schemas.openxmlformats.org/drawingml/2006/main">
              <a:ext uri="{FF2B5EF4-FFF2-40B4-BE49-F238E27FC236}">
                <a16:creationId xmlns:a16="http://schemas.microsoft.com/office/drawing/2014/main" id="{EFD0CE97-2156-4DC7-AA08-B4CEC6AE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21145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34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3463E933-711B-4453-A154-D99CB530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24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</a:rPr>
              <a:t>F4</a:t>
            </a:r>
          </a:p>
        </p:txBody>
      </p:sp>
      <p:sp>
        <p:nvSpPr>
          <p:cNvPr id="35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7EFE8E9A-25D0-4194-994F-0C73CD25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240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1118"/>
                </a:solidFill>
              </a:defRPr>
            </a:pPr>
            <a:r>
              <a:rPr sz="1125" b="1">
                <a:solidFill>
                  <a:srgbClr val="8E1118"/>
                </a:solidFill>
              </a:rPr>
              <a:t>复杂函数</a:t>
            </a:r>
          </a:p>
          <a:p xmlns:a="http://schemas.openxmlformats.org/drawingml/2006/main">
            <a:pPr algn="l">
              <a:defRPr sz="1125" b="1">
                <a:solidFill>
                  <a:srgbClr val="8E1118"/>
                </a:solidFill>
              </a:defRPr>
            </a:pPr>
            <a:r>
              <a:rPr sz="1125" b="1">
                <a:solidFill>
                  <a:srgbClr val="8E1118"/>
                </a:solidFill>
              </a:rPr>
              <a:t>1.86 × 10⁶</a:t>
            </a:r>
          </a:p>
        </p:txBody>
      </p:sp>
      <p:sp>
        <p:nvSpPr>
          <p:cNvPr id="36" name="metric-3">
            <a:extLst xmlns:a="http://schemas.openxmlformats.org/drawingml/2006/main">
              <a:ext uri="{FF2B5EF4-FFF2-40B4-BE49-F238E27FC236}">
                <a16:creationId xmlns:a16="http://schemas.microsoft.com/office/drawing/2014/main" id="{29B1BEEF-B698-451A-A4D0-59382DA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21145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37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901091F8-CACA-4E4E-806B-E1273684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24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</a:rPr>
              <a:t>5</a:t>
            </a:r>
          </a:p>
        </p:txBody>
      </p:sp>
      <p:sp>
        <p:nvSpPr>
          <p:cNvPr id="38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C3D3BBD9-39DA-4BD8-BD24-1E0AE477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1118"/>
                </a:solidFill>
              </a:defRPr>
            </a:pPr>
            <a:r>
              <a:rPr sz="1125" b="1">
                <a:solidFill>
                  <a:srgbClr val="8E1118"/>
                </a:solidFill>
              </a:rPr>
              <a:t>最优配置</a:t>
            </a:r>
          </a:p>
          <a:p xmlns:a="http://schemas.openxmlformats.org/drawingml/2006/main">
            <a:pPr algn="l">
              <a:defRPr sz="1125" b="1">
                <a:solidFill>
                  <a:srgbClr val="8E1118"/>
                </a:solidFill>
              </a:defRPr>
            </a:pPr>
            <a:r>
              <a:rPr sz="1125" b="1">
                <a:solidFill>
                  <a:srgbClr val="8E1118"/>
                </a:solidFill>
              </a:rPr>
              <a:t>n_sub = 5</a:t>
            </a:r>
          </a:p>
        </p:txBody>
      </p:sp>
      <p:sp>
        <p:nvSpPr>
          <p:cNvPr id="39" name="metric-4">
            <a:extLst xmlns:a="http://schemas.openxmlformats.org/drawingml/2006/main">
              <a:ext uri="{FF2B5EF4-FFF2-40B4-BE49-F238E27FC236}">
                <a16:creationId xmlns:a16="http://schemas.microsoft.com/office/drawing/2014/main" id="{240703AE-1B05-4771-B21E-9FF1EAB5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38100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40" name="metric-4-value">
            <a:extLst xmlns:a="http://schemas.openxmlformats.org/drawingml/2006/main">
              <a:ext uri="{FF2B5EF4-FFF2-40B4-BE49-F238E27FC236}">
                <a16:creationId xmlns:a16="http://schemas.microsoft.com/office/drawing/2014/main" id="{F6C8547C-CC33-4BE2-9BD9-7E925C55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</a:rPr>
              <a:t>机制有效</a:t>
            </a:r>
          </a:p>
        </p:txBody>
      </p:sp>
      <p:sp>
        <p:nvSpPr>
          <p:cNvPr id="41" name="metric-4-label">
            <a:extLst xmlns:a="http://schemas.openxmlformats.org/drawingml/2006/main">
              <a:ext uri="{FF2B5EF4-FFF2-40B4-BE49-F238E27FC236}">
                <a16:creationId xmlns:a16="http://schemas.microsoft.com/office/drawing/2014/main" id="{F67D90E3-9D8B-4563-98AA-7F571FD7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33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1118"/>
                </a:solidFill>
              </a:defRPr>
            </a:pPr>
            <a:r>
              <a:rPr sz="1125" b="1">
                <a:solidFill>
                  <a:srgbClr val="8E1118"/>
                </a:solidFill>
              </a:rPr>
              <a:t>移除 DAKG / AS-SaS / 停滞检测后，性能均明显下降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20243d27d4e60"/>
          <a:stretch xmlns:a="http://schemas.openxmlformats.org/drawingml/2006/main"/>
        </p:blipFill>
        <p:spPr>
          <a:xfrm xmlns:a="http://schemas.openxmlformats.org/drawingml/2006/main">
            <a:off x="1497330" y="2781300"/>
            <a:ext cx="3634740" cy="20193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fb70579cc4297"/>
          <a:stretch xmlns:a="http://schemas.openxmlformats.org/drawingml/2006/main"/>
        </p:blipFill>
        <p:spPr>
          <a:xfrm xmlns:a="http://schemas.openxmlformats.org/drawingml/2006/main">
            <a:off x="6324600" y="2822972"/>
            <a:ext cx="5162550" cy="1935956"/>
          </a:xfrm>
          <a:prstGeom xmlns:a="http://schemas.openxmlformats.org/drawingml/2006/main" prst="rect">
            <a:avLst/>
          </a:prstGeom>
        </p:spPr>
      </p:pic>
      <p:sp>
        <p:nvSpPr>
          <p:cNvPr id="44" name="evidence-left">
            <a:extLst xmlns:a="http://schemas.openxmlformats.org/drawingml/2006/main">
              <a:ext uri="{FF2B5EF4-FFF2-40B4-BE49-F238E27FC236}">
                <a16:creationId xmlns:a16="http://schemas.microsoft.com/office/drawing/2014/main" id="{8F0F79D7-1FF1-4F8F-8948-8FB41CD0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506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3434"/>
                </a:solidFill>
              </a:defRPr>
            </a:pPr>
            <a:r>
              <a:rPr sz="1200" b="1">
                <a:solidFill>
                  <a:srgbClr val="343434"/>
                </a:solidFill>
              </a:rPr>
              <a:t>主算法对比：CCMTO-MTES-DAKG 平均排名 1.40，优于 CMAES-EDG（2.00）。</a:t>
            </a:r>
          </a:p>
        </p:txBody>
      </p:sp>
      <p:sp>
        <p:nvSpPr>
          <p:cNvPr id="45" name="evidence-right">
            <a:extLst xmlns:a="http://schemas.openxmlformats.org/drawingml/2006/main">
              <a:ext uri="{FF2B5EF4-FFF2-40B4-BE49-F238E27FC236}">
                <a16:creationId xmlns:a16="http://schemas.microsoft.com/office/drawing/2014/main" id="{E2E549A1-367E-474B-9292-CAB7ED2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3434"/>
                </a:solidFill>
              </a:defRPr>
            </a:pPr>
            <a:r>
              <a:rPr sz="1200" b="1">
                <a:solidFill>
                  <a:srgbClr val="343434"/>
                </a:solidFill>
              </a:rPr>
              <a:t>消融结论：DAKG、AS-SaS 与停滞检测不是“可选项”，而是性能来源。</a:t>
            </a:r>
          </a:p>
        </p:txBody>
      </p:sp>
      <p:sp>
        <p:nvSpPr>
          <p:cNvPr id="46" name="repro-summary">
            <a:extLst xmlns:a="http://schemas.openxmlformats.org/drawingml/2006/main">
              <a:ext uri="{FF2B5EF4-FFF2-40B4-BE49-F238E27FC236}">
                <a16:creationId xmlns:a16="http://schemas.microsoft.com/office/drawing/2014/main" id="{103E2813-6A73-4AAA-BD26-6BAD3DD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82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</p:sp>
      <p:sp>
        <p:nvSpPr>
          <p:cNvPr id="47" name="repro-summary-text">
            <a:extLst xmlns:a="http://schemas.openxmlformats.org/drawingml/2006/main">
              <a:ext uri="{FF2B5EF4-FFF2-40B4-BE49-F238E27FC236}">
                <a16:creationId xmlns:a16="http://schemas.microsoft.com/office/drawing/2014/main" id="{D9DBE102-423A-42D8-BF3E-FFBBF0B8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复现判断：算法主线已复现；下一步重点是补齐统计检验与更多收敛曲线证据。</a:t>
            </a:r>
          </a:p>
        </p:txBody>
      </p:sp>
    </p:spTree>
    <p:extLst>
      <p:ext uri="{BB962C8B-B14F-4D97-AF65-F5344CB8AC3E}">
        <p14:creationId xmlns:p14="http://schemas.microsoft.com/office/powerpoint/2010/main" val="18911385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372E104-664E-E043-EE4C-027887C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论文简介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E148FAF-019B-96F6-629A-44DEE3B0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4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复现情况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327B52B-E511-5138-DF98-58DA2BAE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000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存在问题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E7D8C60-9879-7F75-03FA-B3BB1869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099" y="-1511"/>
            <a:ext cx="230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算法理解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F3CDCF19-39B5-4378-B339-58EEE4D5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E41816E6-945A-488E-8377-60146E61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01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45309CB3-B7E6-4A04-94CD-3C78B16F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418" y="1424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68E1FAD5-FFEE-40CC-BA03-8E82B982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659" y="131889"/>
            <a:ext cx="0" cy="396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7AE1D454-CF05-439B-A6BE-C1B3CAA3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1118"/>
                </a:solidFill>
              </a:defRPr>
            </a:pPr>
            <a:r>
              <a:rPr sz="2250" b="1">
                <a:solidFill>
                  <a:srgbClr val="8E1118"/>
                </a:solidFill>
              </a:rPr>
              <a:t>方法有效，但上限取决于分解质量与迁移匹配</a:t>
            </a:r>
          </a:p>
        </p:txBody>
      </p:sp>
      <p:sp>
        <p:nvSpPr>
          <p:cNvPr id="28" name="module-subtitle">
            <a:extLst xmlns:a="http://schemas.openxmlformats.org/drawingml/2006/main">
              <a:ext uri="{FF2B5EF4-FFF2-40B4-BE49-F238E27FC236}">
                <a16:creationId xmlns:a16="http://schemas.microsoft.com/office/drawing/2014/main" id="{95D3F97E-0441-40C8-8ABE-B59206D1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复现带来的价值：不仅验证有效性，也暴露出算法适用边界</a:t>
            </a:r>
          </a:p>
        </p:txBody>
      </p:sp>
      <p:sp>
        <p:nvSpPr>
          <p:cNvPr id="29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24713F7E-9312-477D-BF62-33E16114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9B5B8"/>
            </a:solidFill>
            <a:prstDash val="solid"/>
          </a:ln>
        </p:spPr>
      </p:sp>
      <p:sp>
        <p:nvSpPr>
          <p:cNvPr id="30" name="limits-panel">
            <a:extLst xmlns:a="http://schemas.openxmlformats.org/drawingml/2006/main">
              <a:ext uri="{FF2B5EF4-FFF2-40B4-BE49-F238E27FC236}">
                <a16:creationId xmlns:a16="http://schemas.microsoft.com/office/drawing/2014/main" id="{F4168382-475C-4286-99F2-DE55622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972050" cy="3486150"/>
          </a:xfrm>
          <a:prstGeom xmlns:a="http://schemas.openxmlformats.org/drawingml/2006/main" prst="roundRect">
            <a:avLst>
              <a:gd name="adj" fmla="val 21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4E4E4"/>
            </a:solidFill>
            <a:prstDash val="solid"/>
          </a:ln>
        </p:spPr>
      </p:sp>
      <p:sp>
        <p:nvSpPr>
          <p:cNvPr id="31" name="future-panel">
            <a:extLst xmlns:a="http://schemas.openxmlformats.org/drawingml/2006/main">
              <a:ext uri="{FF2B5EF4-FFF2-40B4-BE49-F238E27FC236}">
                <a16:creationId xmlns:a16="http://schemas.microsoft.com/office/drawing/2014/main" id="{9D3A6D10-6EBE-407C-9E72-538AF940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972050" cy="3486150"/>
          </a:xfrm>
          <a:prstGeom xmlns:a="http://schemas.openxmlformats.org/drawingml/2006/main" prst="roundRect">
            <a:avLst>
              <a:gd name="adj" fmla="val 21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1C9CC"/>
            </a:solidFill>
            <a:prstDash val="solid"/>
          </a:ln>
        </p:spPr>
      </p:sp>
      <p:sp>
        <p:nvSpPr>
          <p:cNvPr id="32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AD4C4AD9-3AB4-4BD3-AF2C-6190B0AE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E1118"/>
                </a:solidFill>
              </a:defRPr>
            </a:pPr>
            <a:r>
              <a:rPr sz="1650" b="1">
                <a:solidFill>
                  <a:srgbClr val="8E1118"/>
                </a:solidFill>
              </a:rPr>
              <a:t>复现中识别的 3 个边界</a:t>
            </a:r>
          </a:p>
        </p:txBody>
      </p:sp>
      <p:sp>
        <p:nvSpPr>
          <p:cNvPr id="33" name="limit-num-1">
            <a:extLst xmlns:a="http://schemas.openxmlformats.org/drawingml/2006/main">
              <a:ext uri="{FF2B5EF4-FFF2-40B4-BE49-F238E27FC236}">
                <a16:creationId xmlns:a16="http://schemas.microsoft.com/office/drawing/2014/main" id="{51917E57-D69C-4B91-9C27-9F61A7AA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01</a:t>
            </a:r>
          </a:p>
        </p:txBody>
      </p:sp>
      <p:sp>
        <p:nvSpPr>
          <p:cNvPr id="34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037EA53C-D044-4C57-8905-FCBA9440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分解依赖</a:t>
            </a:r>
          </a:p>
        </p:txBody>
      </p:sp>
      <p:sp>
        <p:nvSpPr>
          <p:cNvPr id="35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21F18896-F641-4602-BD02-3656CF4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EDG 误判时，多任务机制可能直接退化。</a:t>
            </a:r>
          </a:p>
        </p:txBody>
      </p:sp>
      <p:sp>
        <p:nvSpPr>
          <p:cNvPr id="36" name="limit-num-2">
            <a:extLst xmlns:a="http://schemas.openxmlformats.org/drawingml/2006/main">
              <a:ext uri="{FF2B5EF4-FFF2-40B4-BE49-F238E27FC236}">
                <a16:creationId xmlns:a16="http://schemas.microsoft.com/office/drawing/2014/main" id="{29D2627C-C7F6-4660-A6AF-9F8AE005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02</a:t>
            </a:r>
          </a:p>
        </p:txBody>
      </p:sp>
      <p:sp>
        <p:nvSpPr>
          <p:cNvPr id="37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6BD425E1-8135-416E-93D1-44BB98C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耦合受限</a:t>
            </a:r>
          </a:p>
        </p:txBody>
      </p:sp>
      <p:sp>
        <p:nvSpPr>
          <p:cNvPr id="38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623A5117-E1D3-4031-BEC8-9EA1F71B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052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强变量耦合的不可分问题并非算法强项。</a:t>
            </a:r>
          </a:p>
        </p:txBody>
      </p:sp>
      <p:sp>
        <p:nvSpPr>
          <p:cNvPr id="39" name="limit-num-3">
            <a:extLst xmlns:a="http://schemas.openxmlformats.org/drawingml/2006/main">
              <a:ext uri="{FF2B5EF4-FFF2-40B4-BE49-F238E27FC236}">
                <a16:creationId xmlns:a16="http://schemas.microsoft.com/office/drawing/2014/main" id="{535E33F4-5F80-4D09-BFE0-94623F3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</a:rPr>
              <a:t>03</a:t>
            </a:r>
          </a:p>
        </p:txBody>
      </p:sp>
      <p:sp>
        <p:nvSpPr>
          <p:cNvPr id="40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AA6CB51F-182A-449F-8B16-67706A5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1118"/>
                </a:solidFill>
              </a:defRPr>
            </a:pPr>
            <a:r>
              <a:rPr sz="1350" b="1">
                <a:solidFill>
                  <a:srgbClr val="8E1118"/>
                </a:solidFill>
              </a:rPr>
              <a:t>迁移与成本</a:t>
            </a:r>
          </a:p>
        </p:txBody>
      </p:sp>
      <p:sp>
        <p:nvSpPr>
          <p:cNvPr id="41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760273A2-313D-45FF-BAD5-498E97C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862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随机源任务有负迁移风险；高维协方差带来开销。</a:t>
            </a:r>
          </a:p>
        </p:txBody>
      </p:sp>
      <p:sp>
        <p:nvSpPr>
          <p:cNvPr id="4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EAA4F7D2-3C1E-4D72-829F-55F51DB6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E1118"/>
                </a:solidFill>
              </a:defRPr>
            </a:pPr>
            <a:r>
              <a:rPr sz="1650" b="1">
                <a:solidFill>
                  <a:srgbClr val="8E1118"/>
                </a:solidFill>
              </a:rPr>
              <a:t>两条更有针对性的改进路径</a:t>
            </a:r>
          </a:p>
        </p:txBody>
      </p:sp>
      <p:sp>
        <p:nvSpPr>
          <p:cNvPr id="43" name="future-1">
            <a:extLst xmlns:a="http://schemas.openxmlformats.org/drawingml/2006/main">
              <a:ext uri="{FF2B5EF4-FFF2-40B4-BE49-F238E27FC236}">
                <a16:creationId xmlns:a16="http://schemas.microsoft.com/office/drawing/2014/main" id="{199427FC-4F45-43F2-9371-7BD126E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438650" cy="9144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1C9CC"/>
            </a:solidFill>
            <a:prstDash val="solid"/>
          </a:ln>
        </p:spPr>
      </p:sp>
      <p:sp>
        <p:nvSpPr>
          <p:cNvPr id="44" name="future-1-title">
            <a:extLst xmlns:a="http://schemas.openxmlformats.org/drawingml/2006/main">
              <a:ext uri="{FF2B5EF4-FFF2-40B4-BE49-F238E27FC236}">
                <a16:creationId xmlns:a16="http://schemas.microsoft.com/office/drawing/2014/main" id="{ED7FDB0C-96B3-4654-87B5-BA71D68E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E1118"/>
                </a:solidFill>
              </a:defRPr>
            </a:pPr>
            <a:r>
              <a:rPr sz="1425" b="1">
                <a:solidFill>
                  <a:srgbClr val="8E1118"/>
                </a:solidFill>
              </a:rPr>
              <a:t>① 自适应源任务匹配</a:t>
            </a:r>
          </a:p>
        </p:txBody>
      </p:sp>
      <p:sp>
        <p:nvSpPr>
          <p:cNvPr id="45" name="future-1-body">
            <a:extLst xmlns:a="http://schemas.openxmlformats.org/drawingml/2006/main">
              <a:ext uri="{FF2B5EF4-FFF2-40B4-BE49-F238E27FC236}">
                <a16:creationId xmlns:a16="http://schemas.microsoft.com/office/drawing/2014/main" id="{704ABF5E-BF43-43E9-A8D7-74C38654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385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用解分布相似度选择迁移源，减少盲目负迁移。</a:t>
            </a:r>
          </a:p>
        </p:txBody>
      </p:sp>
      <p:sp>
        <p:nvSpPr>
          <p:cNvPr id="46" name="future-2">
            <a:extLst xmlns:a="http://schemas.openxmlformats.org/drawingml/2006/main">
              <a:ext uri="{FF2B5EF4-FFF2-40B4-BE49-F238E27FC236}">
                <a16:creationId xmlns:a16="http://schemas.microsoft.com/office/drawing/2014/main" id="{CCF621FD-F68C-40D2-B08D-72638027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67150"/>
            <a:ext cx="4438650" cy="9144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1C9CC"/>
            </a:solidFill>
            <a:prstDash val="solid"/>
          </a:ln>
        </p:spPr>
      </p:sp>
      <p:sp>
        <p:nvSpPr>
          <p:cNvPr id="47" name="future-2-title">
            <a:extLst xmlns:a="http://schemas.openxmlformats.org/drawingml/2006/main">
              <a:ext uri="{FF2B5EF4-FFF2-40B4-BE49-F238E27FC236}">
                <a16:creationId xmlns:a16="http://schemas.microsoft.com/office/drawing/2014/main" id="{C42B9B1D-49B6-4E0E-9ECA-03EE278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E1118"/>
                </a:solidFill>
              </a:defRPr>
            </a:pPr>
            <a:r>
              <a:rPr sz="1425" b="1">
                <a:solidFill>
                  <a:srgbClr val="8E1118"/>
                </a:solidFill>
              </a:rPr>
              <a:t>② 增量 / 动态多任务优化</a:t>
            </a:r>
          </a:p>
        </p:txBody>
      </p:sp>
      <p:sp>
        <p:nvSpPr>
          <p:cNvPr id="48" name="future-2-body">
            <a:extLst xmlns:a="http://schemas.openxmlformats.org/drawingml/2006/main">
              <a:ext uri="{FF2B5EF4-FFF2-40B4-BE49-F238E27FC236}">
                <a16:creationId xmlns:a16="http://schemas.microsoft.com/office/drawing/2014/main" id="{889273C3-1025-474C-B4EE-011DBF5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3434"/>
                </a:solidFill>
              </a:defRPr>
            </a:pPr>
            <a:r>
              <a:rPr sz="1200" b="0">
                <a:solidFill>
                  <a:srgbClr val="343434"/>
                </a:solidFill>
              </a:rPr>
              <a:t>将新增变量与子问题纳入连续 MTOPs，贴近工程过程。</a:t>
            </a:r>
          </a:p>
        </p:txBody>
      </p:sp>
      <p:sp>
        <p:nvSpPr>
          <p:cNvPr id="49" name="reflection">
            <a:extLst xmlns:a="http://schemas.openxmlformats.org/drawingml/2006/main">
              <a:ext uri="{FF2B5EF4-FFF2-40B4-BE49-F238E27FC236}">
                <a16:creationId xmlns:a16="http://schemas.microsoft.com/office/drawing/2014/main" id="{1B5EEAD3-B706-4D41-B2ED-2CF7C92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078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9525">
            <a:solidFill>
              <a:srgbClr val="C8161E"/>
            </a:solidFill>
            <a:prstDash val="solid"/>
          </a:ln>
        </p:spPr>
      </p:sp>
      <p:sp>
        <p:nvSpPr>
          <p:cNvPr id="50" name="reflection-text">
            <a:extLst xmlns:a="http://schemas.openxmlformats.org/drawingml/2006/main">
              <a:ext uri="{FF2B5EF4-FFF2-40B4-BE49-F238E27FC236}">
                <a16:creationId xmlns:a16="http://schemas.microsoft.com/office/drawing/2014/main" id="{B4400496-50AD-48D2-A793-1264D14A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05475"/>
            <a:ext cx="1032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最终判断：CCMTO 证明了“协同 + 迁移”的价值，但前端分解与源任务选择决定了它能走多远。</a:t>
            </a:r>
          </a:p>
        </p:txBody>
      </p:sp>
    </p:spTree>
    <p:extLst>
      <p:ext uri="{BB962C8B-B14F-4D97-AF65-F5344CB8AC3E}">
        <p14:creationId xmlns:p14="http://schemas.microsoft.com/office/powerpoint/2010/main" val="26342049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5DD7FCA-6FC4-DBB7-B920-64E1F55E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12" y="3274178"/>
            <a:ext cx="4416594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0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下一步计划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C00D226-29EB-279B-920C-9BEA86F7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4" y="1807200"/>
            <a:ext cx="1704313" cy="1569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0" b="1">
                <a:gradFill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atin typeface="微软雅黑"/>
                <a:ea typeface="微软雅黑"/>
                <a:cs typeface="微软雅黑"/>
              </a:rPr>
              <a:t>03</a:t>
            </a:r>
            <a:endParaRPr sz="9600" b="1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 scaled="1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8A3D908-1B3E-96E4-45A0-8FE464F4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8" y="4388079"/>
            <a:ext cx="352671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i="0" spc="600">
                <a:solidFill>
                  <a:schemeClr val="accent1">
                    <a:alpha val="70000"/>
                  </a:schemeClr>
                </a:solidFill>
                <a:latin typeface="微软雅黑"/>
                <a:ea typeface="微软雅黑"/>
                <a:cs typeface="微软雅黑"/>
              </a:rPr>
              <a:t>下一步学习计划</a:t>
            </a:r>
          </a:p>
        </p:txBody>
      </p:sp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C73E470B-857B-3531-DED5-18006C8C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6613693" y="1254294"/>
            <a:ext cx="6858002" cy="4349415"/>
          </a:xfrm>
          <a:custGeom xmlns:a="http://schemas.openxmlformats.org/drawingml/2006/main">
            <a:gdLst>
              <a:gd name="connsiteX0" fmla="*/ 6858002 w 6858002"/>
              <a:gd name="connsiteY0" fmla="*/ 3312906 h 4349415"/>
              <a:gd name="connsiteX1" fmla="*/ 6858002 w 6858002"/>
              <a:gd name="connsiteY1" fmla="*/ 1637677 h 4349415"/>
              <a:gd name="connsiteX2" fmla="*/ 6858000 w 6858002"/>
              <a:gd name="connsiteY2" fmla="*/ 1637677 h 4349415"/>
              <a:gd name="connsiteX3" fmla="*/ 6858000 w 6858002"/>
              <a:gd name="connsiteY3" fmla="*/ 0 h 4349415"/>
              <a:gd name="connsiteX4" fmla="*/ 0 w 6858002"/>
              <a:gd name="connsiteY4" fmla="*/ 0 h 4349415"/>
              <a:gd name="connsiteX5" fmla="*/ 0 w 6858002"/>
              <a:gd name="connsiteY5" fmla="*/ 2472268 h 4349415"/>
              <a:gd name="connsiteX6" fmla="*/ 2 w 6858002"/>
              <a:gd name="connsiteY6" fmla="*/ 2472268 h 4349415"/>
              <a:gd name="connsiteX7" fmla="*/ 2 w 6858002"/>
              <a:gd name="connsiteY7" fmla="*/ 3313334 h 4349415"/>
              <a:gd name="connsiteX8" fmla="*/ 12723 w 6858002"/>
              <a:gd name="connsiteY8" fmla="*/ 3323302 h 4349415"/>
              <a:gd name="connsiteX9" fmla="*/ 3428728 w 6858002"/>
              <a:gd name="connsiteY9" fmla="*/ 4349415 h 4349415"/>
              <a:gd name="connsiteX10" fmla="*/ 6844733 w 6858002"/>
              <a:gd name="connsiteY10" fmla="*/ 3323302 h 4349415"/>
            </a:gdLst>
            <a:rect l="l" t="t" r="r" b="b"/>
            <a:pathLst>
              <a:path w="6858002" h="4349415">
                <a:moveTo>
                  <a:pt x="6858002" y="3312906"/>
                </a:moveTo>
                <a:lnTo>
                  <a:pt x="6858002" y="1637677"/>
                </a:lnTo>
                <a:lnTo>
                  <a:pt x="6858000" y="1637677"/>
                </a:lnTo>
                <a:lnTo>
                  <a:pt x="6858000" y="0"/>
                </a:lnTo>
                <a:lnTo>
                  <a:pt x="0" y="0"/>
                </a:lnTo>
                <a:lnTo>
                  <a:pt x="0" y="2472268"/>
                </a:lnTo>
                <a:lnTo>
                  <a:pt x="2" y="2472268"/>
                </a:lnTo>
                <a:lnTo>
                  <a:pt x="2" y="3313334"/>
                </a:lnTo>
                <a:lnTo>
                  <a:pt x="12723" y="3323302"/>
                </a:lnTo>
                <a:cubicBezTo>
                  <a:pt x="856910" y="3953665"/>
                  <a:pt x="2074722" y="4349415"/>
                  <a:pt x="3428728" y="4349415"/>
                </a:cubicBezTo>
                <a:cubicBezTo>
                  <a:pt x="4782735" y="4349415"/>
                  <a:pt x="6000546" y="3953665"/>
                  <a:pt x="6844733" y="3323302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alpha val="8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3209C300-F852-590C-AA1B-45909E9D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865" y="2565000"/>
            <a:ext cx="1728000" cy="172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635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8d562d05b4b2b"/>
          <a:srcRect xmlns:a="http://schemas.openxmlformats.org/drawingml/2006/main" l="4391" t="0" r="4391" b="0"/>
          <a:stretch xmlns:a="http://schemas.openxmlformats.org/drawingml/2006/main"/>
        </p:blipFill>
        <p:spPr>
          <a:xfrm xmlns:a="http://schemas.openxmlformats.org/drawingml/2006/main">
            <a:off x="6984864" y="2471664"/>
            <a:ext cx="1728002" cy="18943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148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19D199F8-FBB0-4EFA-B3B1-2E933FDB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6489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254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3936860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95FEB01-24AF-A70C-2122-448949F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 flipV="1">
            <a:off x="5192105" y="5283701"/>
            <a:ext cx="1800000" cy="36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5875">
            <a:solidFill>
              <a:schemeClr val="accent1">
                <a:alpha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汇报</a:t>
            </a:r>
            <a:r>
              <a:rPr sz="1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人：</a:t>
            </a:r>
            <a:r>
              <a:rPr sz="1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曾靖</a:t>
            </a:r>
            <a:endParaRPr sz="12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31AC1B6E-5C1C-8F31-88EE-115CA61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565" y="3466453"/>
            <a:ext cx="7879080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敬请老师批评指正</a:t>
            </a:r>
          </a:p>
        </p:txBody>
      </p:sp>
      <p:sp>
        <p:nvSpPr>
          <p:cNvPr id="3" name="任意多边形: 形状 2">
            <a:extLst xmlns:a="http://schemas.openxmlformats.org/drawingml/2006/main">
              <a:ext uri="{FF2B5EF4-FFF2-40B4-BE49-F238E27FC236}">
                <a16:creationId xmlns:a16="http://schemas.microsoft.com/office/drawing/2014/main" id="{3DBC1FA9-7B3C-D878-6FF2-3ED059A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95" y="565150"/>
            <a:ext cx="12192000" cy="2284384"/>
          </a:xfrm>
          <a:custGeom xmlns:a="http://schemas.openxmlformats.org/drawingml/2006/main"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  <a:gd name="connsiteX7" fmla="*/ 0 w 12192000"/>
              <a:gd name="connsiteY7" fmla="*/ 0 h 2711737"/>
            </a:gd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50000">
                <a:schemeClr val="accent1"/>
              </a:gs>
              <a:gs pos="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n xmlns:a="http://schemas.openxmlformats.org/drawingml/2006/main" w="38100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5fca4c00c482a"/>
          <a:srcRect xmlns:a="http://schemas.openxmlformats.org/drawingml/2006/main" l="0" t="33336" r="0" b="33336"/>
          <a:stretch xmlns:a="http://schemas.openxmlformats.org/drawingml/2006/main"/>
        </p:blipFill>
        <p:spPr>
          <a:xfrm xmlns:a="http://schemas.openxmlformats.org/drawingml/2006/main">
            <a:off x="-973" y="-18641"/>
            <a:ext cx="12192000" cy="2711737"/>
          </a:xfrm>
        </p:spPr>
      </p:pic>
      <p:sp>
        <p:nvSpPr>
          <p:cNvPr id="5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DDB4003C-BBCA-7840-0AC1-FCF6E73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95" y="-18641"/>
            <a:ext cx="12192000" cy="2711737"/>
          </a:xfrm>
          <a:custGeom xmlns:a="http://schemas.openxmlformats.org/drawingml/2006/main">
            <a:gdLst>
              <a:gd name="connsiteX0" fmla="*/ 0 w 12192000"/>
              <a:gd name="connsiteY0" fmla="*/ 0 h 2711737"/>
              <a:gd name="connsiteX1" fmla="*/ 12192000 w 12192000"/>
              <a:gd name="connsiteY1" fmla="*/ 0 h 2711737"/>
              <a:gd name="connsiteX2" fmla="*/ 12192000 w 12192000"/>
              <a:gd name="connsiteY2" fmla="*/ 1675227 h 2711737"/>
              <a:gd name="connsiteX3" fmla="*/ 12168411 w 12192000"/>
              <a:gd name="connsiteY3" fmla="*/ 1685623 h 2711737"/>
              <a:gd name="connsiteX4" fmla="*/ 6095513 w 12192000"/>
              <a:gd name="connsiteY4" fmla="*/ 2711737 h 2711737"/>
              <a:gd name="connsiteX5" fmla="*/ 22615 w 12192000"/>
              <a:gd name="connsiteY5" fmla="*/ 1685623 h 2711737"/>
              <a:gd name="connsiteX6" fmla="*/ 0 w 12192000"/>
              <a:gd name="connsiteY6" fmla="*/ 1675656 h 2711737"/>
              <a:gd name="connsiteX7" fmla="*/ 0 w 12192000"/>
              <a:gd name="connsiteY7" fmla="*/ 0 h 2711737"/>
            </a:gdLst>
            <a:rect l="l" t="t" r="r" b="b"/>
            <a:pathLst>
              <a:path w="12192000" h="2711737">
                <a:moveTo>
                  <a:pt x="0" y="0"/>
                </a:moveTo>
                <a:lnTo>
                  <a:pt x="12192000" y="0"/>
                </a:lnTo>
                <a:lnTo>
                  <a:pt x="12192000" y="1675227"/>
                </a:lnTo>
                <a:lnTo>
                  <a:pt x="12168411" y="1685623"/>
                </a:lnTo>
                <a:cubicBezTo>
                  <a:pt x="10667634" y="2315987"/>
                  <a:pt x="8502636" y="2711737"/>
                  <a:pt x="6095513" y="2711737"/>
                </a:cubicBezTo>
                <a:cubicBezTo>
                  <a:pt x="3688390" y="2711737"/>
                  <a:pt x="1523392" y="2315987"/>
                  <a:pt x="22615" y="1685623"/>
                </a:cubicBezTo>
                <a:lnTo>
                  <a:pt x="0" y="1675656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1ae94a1514c0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77589" y="1099569"/>
            <a:ext cx="4097833" cy="9609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1067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74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8161E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自定义 7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2026-08-22T18:18:58.6210000Z</dcterms:created>
  <dcterms:modified xsi:type="dcterms:W3CDTF">2026-08-22T18:18:58.6210000Z</dcterms:modified>
</coreProperties>
</file>